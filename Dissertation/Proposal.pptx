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74" r:id="rId2"/>
    <p:sldId id="257" r:id="rId3"/>
    <p:sldId id="311" r:id="rId4"/>
    <p:sldId id="314" r:id="rId5"/>
    <p:sldId id="258" r:id="rId6"/>
    <p:sldId id="294" r:id="rId7"/>
    <p:sldId id="319" r:id="rId8"/>
    <p:sldId id="263" r:id="rId9"/>
    <p:sldId id="264" r:id="rId10"/>
    <p:sldId id="320" r:id="rId11"/>
    <p:sldId id="259" r:id="rId12"/>
    <p:sldId id="290" r:id="rId13"/>
    <p:sldId id="261" r:id="rId14"/>
    <p:sldId id="262" r:id="rId15"/>
    <p:sldId id="267" r:id="rId16"/>
    <p:sldId id="265" r:id="rId17"/>
    <p:sldId id="313" r:id="rId18"/>
    <p:sldId id="296" r:id="rId19"/>
    <p:sldId id="292" r:id="rId20"/>
    <p:sldId id="297" r:id="rId21"/>
    <p:sldId id="270" r:id="rId22"/>
    <p:sldId id="299" r:id="rId23"/>
    <p:sldId id="315" r:id="rId24"/>
    <p:sldId id="316" r:id="rId25"/>
    <p:sldId id="302" r:id="rId26"/>
    <p:sldId id="303" r:id="rId27"/>
    <p:sldId id="304" r:id="rId28"/>
    <p:sldId id="305" r:id="rId29"/>
    <p:sldId id="306" r:id="rId30"/>
    <p:sldId id="307" r:id="rId31"/>
    <p:sldId id="308" r:id="rId32"/>
    <p:sldId id="309" r:id="rId33"/>
    <p:sldId id="300" r:id="rId34"/>
    <p:sldId id="312" r:id="rId35"/>
    <p:sldId id="301" r:id="rId36"/>
    <p:sldId id="291" r:id="rId37"/>
    <p:sldId id="293" r:id="rId38"/>
    <p:sldId id="318" r:id="rId39"/>
    <p:sldId id="276" r:id="rId40"/>
    <p:sldId id="321" r:id="rId4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44" autoAdjust="0"/>
    <p:restoredTop sz="62760" autoAdjust="0"/>
  </p:normalViewPr>
  <p:slideViewPr>
    <p:cSldViewPr snapToGrid="0">
      <p:cViewPr varScale="1">
        <p:scale>
          <a:sx n="56" d="100"/>
          <a:sy n="56" d="100"/>
        </p:scale>
        <p:origin x="10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5D173B18-CD7D-4415-BCA9-726925D1E1A8}" type="datetimeFigureOut">
              <a:rPr lang="en-US" smtClean="0"/>
              <a:t>8/4/2023</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BBF263E6-1E4B-4188-A42C-59016D784BA2}" type="slidenum">
              <a:rPr lang="en-US" smtClean="0"/>
              <a:t>‹#›</a:t>
            </a:fld>
            <a:endParaRPr lang="en-US"/>
          </a:p>
        </p:txBody>
      </p:sp>
    </p:spTree>
    <p:extLst>
      <p:ext uri="{BB962C8B-B14F-4D97-AF65-F5344CB8AC3E}">
        <p14:creationId xmlns:p14="http://schemas.microsoft.com/office/powerpoint/2010/main" val="3177982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1</a:t>
            </a:fld>
            <a:endParaRPr lang="en-US"/>
          </a:p>
        </p:txBody>
      </p:sp>
    </p:spTree>
    <p:extLst>
      <p:ext uri="{BB962C8B-B14F-4D97-AF65-F5344CB8AC3E}">
        <p14:creationId xmlns:p14="http://schemas.microsoft.com/office/powerpoint/2010/main" val="461614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an image, and what makes up an object.</a:t>
            </a:r>
          </a:p>
          <a:p>
            <a:pPr marL="171450" indent="-171450">
              <a:buFontTx/>
              <a:buChar char="-"/>
            </a:pPr>
            <a:r>
              <a:rPr lang="en-US" dirty="0"/>
              <a:t>Pixel Correlation – high positive within background and object.  High negative on the edges.</a:t>
            </a:r>
          </a:p>
          <a:p>
            <a:r>
              <a:rPr lang="en-US" baseline="0" dirty="0"/>
              <a:t>Hypothesize:</a:t>
            </a:r>
          </a:p>
          <a:p>
            <a:pPr marL="0" indent="0">
              <a:buFontTx/>
              <a:buNone/>
            </a:pPr>
            <a:r>
              <a:rPr lang="en-US" baseline="0" dirty="0"/>
              <a:t>- By using statistical correlation we can create artificial objects in non-natural data and improve performance.</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3</a:t>
            </a:fld>
            <a:endParaRPr lang="en-US"/>
          </a:p>
        </p:txBody>
      </p:sp>
    </p:spTree>
    <p:extLst>
      <p:ext uri="{BB962C8B-B14F-4D97-AF65-F5344CB8AC3E}">
        <p14:creationId xmlns:p14="http://schemas.microsoft.com/office/powerpoint/2010/main" val="1378646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Convolutions:</a:t>
            </a:r>
            <a:r>
              <a:rPr lang="en-US" baseline="0" dirty="0"/>
              <a:t> simple wavelet filter set processed on an image in two dimensions.</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4</a:t>
            </a:fld>
            <a:endParaRPr lang="en-US"/>
          </a:p>
        </p:txBody>
      </p:sp>
    </p:spTree>
    <p:extLst>
      <p:ext uri="{BB962C8B-B14F-4D97-AF65-F5344CB8AC3E}">
        <p14:creationId xmlns:p14="http://schemas.microsoft.com/office/powerpoint/2010/main" val="1920564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 use convolutional layers to extract features from the image pixels,</a:t>
            </a:r>
            <a:r>
              <a:rPr lang="en-US" baseline="0" dirty="0"/>
              <a:t> and each following layer pooling and extracting these features into an identifiable object.</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5</a:t>
            </a:fld>
            <a:endParaRPr lang="en-US"/>
          </a:p>
        </p:txBody>
      </p:sp>
    </p:spTree>
    <p:extLst>
      <p:ext uri="{BB962C8B-B14F-4D97-AF65-F5344CB8AC3E}">
        <p14:creationId xmlns:p14="http://schemas.microsoft.com/office/powerpoint/2010/main" val="3331071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CNN convolutional layer</a:t>
            </a:r>
            <a:r>
              <a:rPr lang="en-US" baseline="0" dirty="0"/>
              <a:t> </a:t>
            </a:r>
            <a:r>
              <a:rPr lang="en-US" dirty="0"/>
              <a:t>activation plot to entropy plot of the same image.</a:t>
            </a:r>
          </a:p>
          <a:p>
            <a:r>
              <a:rPr lang="en-US" baseline="0" dirty="0"/>
              <a:t>Hypothesize:</a:t>
            </a:r>
          </a:p>
          <a:p>
            <a:pPr marL="0" indent="0">
              <a:buFontTx/>
              <a:buNone/>
            </a:pPr>
            <a:r>
              <a:rPr lang="en-US" baseline="0" dirty="0"/>
              <a:t>- CNN are picking up novel patterns within the entropy.</a:t>
            </a:r>
          </a:p>
        </p:txBody>
      </p:sp>
      <p:sp>
        <p:nvSpPr>
          <p:cNvPr id="4" name="Slide Number Placeholder 3"/>
          <p:cNvSpPr>
            <a:spLocks noGrp="1"/>
          </p:cNvSpPr>
          <p:nvPr>
            <p:ph type="sldNum" sz="quarter" idx="10"/>
          </p:nvPr>
        </p:nvSpPr>
        <p:spPr/>
        <p:txBody>
          <a:bodyPr/>
          <a:lstStyle/>
          <a:p>
            <a:fld id="{BBF263E6-1E4B-4188-A42C-59016D784BA2}" type="slidenum">
              <a:rPr lang="en-US" smtClean="0"/>
              <a:t>6</a:t>
            </a:fld>
            <a:endParaRPr lang="en-US"/>
          </a:p>
        </p:txBody>
      </p:sp>
    </p:spTree>
    <p:extLst>
      <p:ext uri="{BB962C8B-B14F-4D97-AF65-F5344CB8AC3E}">
        <p14:creationId xmlns:p14="http://schemas.microsoft.com/office/powerpoint/2010/main" val="2272379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non-natural data are computer</a:t>
            </a:r>
            <a:r>
              <a:rPr lang="en-US" baseline="0" dirty="0"/>
              <a:t> process metrics.</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7</a:t>
            </a:fld>
            <a:endParaRPr lang="en-US"/>
          </a:p>
        </p:txBody>
      </p:sp>
    </p:spTree>
    <p:extLst>
      <p:ext uri="{BB962C8B-B14F-4D97-AF65-F5344CB8AC3E}">
        <p14:creationId xmlns:p14="http://schemas.microsoft.com/office/powerpoint/2010/main" val="3189764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question is, does order matter?  Is there one that is best?</a:t>
            </a:r>
          </a:p>
        </p:txBody>
      </p:sp>
      <p:sp>
        <p:nvSpPr>
          <p:cNvPr id="4" name="Slide Number Placeholder 3"/>
          <p:cNvSpPr>
            <a:spLocks noGrp="1"/>
          </p:cNvSpPr>
          <p:nvPr>
            <p:ph type="sldNum" sz="quarter" idx="10"/>
          </p:nvPr>
        </p:nvSpPr>
        <p:spPr/>
        <p:txBody>
          <a:bodyPr/>
          <a:lstStyle/>
          <a:p>
            <a:fld id="{BBF263E6-1E4B-4188-A42C-59016D784BA2}" type="slidenum">
              <a:rPr lang="en-US" smtClean="0"/>
              <a:t>8</a:t>
            </a:fld>
            <a:endParaRPr lang="en-US"/>
          </a:p>
        </p:txBody>
      </p:sp>
    </p:spTree>
    <p:extLst>
      <p:ext uri="{BB962C8B-B14F-4D97-AF65-F5344CB8AC3E}">
        <p14:creationId xmlns:p14="http://schemas.microsoft.com/office/powerpoint/2010/main" val="746059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data set is from Dr. </a:t>
            </a:r>
            <a:r>
              <a:rPr lang="en-US" dirty="0" err="1"/>
              <a:t>Abdelsalem’s</a:t>
            </a:r>
            <a:r>
              <a:rPr lang="en-US" dirty="0"/>
              <a:t> work here at UTSA.</a:t>
            </a:r>
          </a:p>
        </p:txBody>
      </p:sp>
      <p:sp>
        <p:nvSpPr>
          <p:cNvPr id="4" name="Slide Number Placeholder 3"/>
          <p:cNvSpPr>
            <a:spLocks noGrp="1"/>
          </p:cNvSpPr>
          <p:nvPr>
            <p:ph type="sldNum" sz="quarter" idx="10"/>
          </p:nvPr>
        </p:nvSpPr>
        <p:spPr/>
        <p:txBody>
          <a:bodyPr/>
          <a:lstStyle/>
          <a:p>
            <a:fld id="{BBF263E6-1E4B-4188-A42C-59016D784BA2}" type="slidenum">
              <a:rPr lang="en-US" smtClean="0"/>
              <a:t>11</a:t>
            </a:fld>
            <a:endParaRPr lang="en-US"/>
          </a:p>
        </p:txBody>
      </p:sp>
    </p:spTree>
    <p:extLst>
      <p:ext uri="{BB962C8B-B14F-4D97-AF65-F5344CB8AC3E}">
        <p14:creationId xmlns:p14="http://schemas.microsoft.com/office/powerpoint/2010/main" val="1921024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12</a:t>
            </a:fld>
            <a:endParaRPr lang="en-US"/>
          </a:p>
        </p:txBody>
      </p:sp>
    </p:spTree>
    <p:extLst>
      <p:ext uri="{BB962C8B-B14F-4D97-AF65-F5344CB8AC3E}">
        <p14:creationId xmlns:p14="http://schemas.microsoft.com/office/powerpoint/2010/main" val="4214010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Sampled from an Virtual</a:t>
            </a:r>
            <a:r>
              <a:rPr lang="en-US" baseline="0" dirty="0"/>
              <a:t> Machines in a cloud environment, where one of the machines was infected with a malware script.</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13</a:t>
            </a:fld>
            <a:endParaRPr lang="en-US"/>
          </a:p>
        </p:txBody>
      </p:sp>
    </p:spTree>
    <p:extLst>
      <p:ext uri="{BB962C8B-B14F-4D97-AF65-F5344CB8AC3E}">
        <p14:creationId xmlns:p14="http://schemas.microsoft.com/office/powerpoint/2010/main" val="311952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compiled these samples per time slice into a</a:t>
            </a:r>
            <a:r>
              <a:rPr lang="en-US" baseline="0" dirty="0"/>
              <a:t> matrix where one axis was the metrics while the other axis represented the processes.</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14</a:t>
            </a:fld>
            <a:endParaRPr lang="en-US"/>
          </a:p>
        </p:txBody>
      </p:sp>
    </p:spTree>
    <p:extLst>
      <p:ext uri="{BB962C8B-B14F-4D97-AF65-F5344CB8AC3E}">
        <p14:creationId xmlns:p14="http://schemas.microsoft.com/office/powerpoint/2010/main" val="11537675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a:t>
            </a:r>
            <a:r>
              <a:rPr lang="en-US" baseline="0" dirty="0"/>
              <a:t>grids should be stabilized before processing.  </a:t>
            </a:r>
          </a:p>
          <a:p>
            <a:r>
              <a:rPr lang="en-US" baseline="0" dirty="0"/>
              <a:t>This means that the features along an axis don’t change.  </a:t>
            </a:r>
          </a:p>
          <a:p>
            <a:r>
              <a:rPr lang="en-US" baseline="0" dirty="0"/>
              <a:t>This was our process for doing that.</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15</a:t>
            </a:fld>
            <a:endParaRPr lang="en-US"/>
          </a:p>
        </p:txBody>
      </p:sp>
    </p:spTree>
    <p:extLst>
      <p:ext uri="{BB962C8B-B14F-4D97-AF65-F5344CB8AC3E}">
        <p14:creationId xmlns:p14="http://schemas.microsoft.com/office/powerpoint/2010/main" val="2292320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function to find a correlation between every feature along an independent axis.  </a:t>
            </a:r>
          </a:p>
          <a:p>
            <a:endParaRPr lang="en-US" dirty="0"/>
          </a:p>
          <a:p>
            <a:r>
              <a:rPr lang="en-US" dirty="0"/>
              <a:t>It was possible because every sample packet contained</a:t>
            </a:r>
            <a:r>
              <a:rPr lang="en-US" baseline="0" dirty="0"/>
              <a:t> data for all the axis feature </a:t>
            </a:r>
            <a:r>
              <a:rPr lang="en-US" i="1" baseline="0" dirty="0"/>
              <a:t>(metric/byte)</a:t>
            </a:r>
            <a:r>
              <a:rPr lang="en-US" baseline="0" dirty="0"/>
              <a:t>.</a:t>
            </a:r>
          </a:p>
          <a:p>
            <a:endParaRPr lang="en-US" baseline="0" dirty="0"/>
          </a:p>
          <a:p>
            <a:r>
              <a:rPr lang="en-US" baseline="0" dirty="0"/>
              <a:t>- Used ABS to try to make object edges.</a:t>
            </a:r>
          </a:p>
          <a:p>
            <a:r>
              <a:rPr lang="en-US" dirty="0"/>
              <a:t>- Used Anti to test counter hypothesis by breaking up object.</a:t>
            </a:r>
          </a:p>
          <a:p>
            <a:endParaRPr lang="en-US" dirty="0"/>
          </a:p>
          <a:p>
            <a:r>
              <a:rPr lang="en-US" dirty="0"/>
              <a:t>Our algorithm, also needs to</a:t>
            </a:r>
            <a:r>
              <a:rPr lang="en-US" baseline="0" dirty="0"/>
              <a:t> order which</a:t>
            </a:r>
            <a:r>
              <a:rPr lang="en-US" dirty="0"/>
              <a:t> features are most correlated with the other</a:t>
            </a:r>
            <a:r>
              <a:rPr lang="en-US" baseline="0" dirty="0"/>
              <a:t> features on this axis</a:t>
            </a:r>
            <a:r>
              <a:rPr lang="en-US" dirty="0"/>
              <a:t>, total correlation. </a:t>
            </a:r>
          </a:p>
        </p:txBody>
      </p:sp>
      <p:sp>
        <p:nvSpPr>
          <p:cNvPr id="4" name="Slide Number Placeholder 3"/>
          <p:cNvSpPr>
            <a:spLocks noGrp="1"/>
          </p:cNvSpPr>
          <p:nvPr>
            <p:ph type="sldNum" sz="quarter" idx="10"/>
          </p:nvPr>
        </p:nvSpPr>
        <p:spPr/>
        <p:txBody>
          <a:bodyPr/>
          <a:lstStyle/>
          <a:p>
            <a:fld id="{BBF263E6-1E4B-4188-A42C-59016D784BA2}" type="slidenum">
              <a:rPr lang="en-US" smtClean="0"/>
              <a:t>16</a:t>
            </a:fld>
            <a:endParaRPr lang="en-US"/>
          </a:p>
        </p:txBody>
      </p:sp>
    </p:spTree>
    <p:extLst>
      <p:ext uri="{BB962C8B-B14F-4D97-AF65-F5344CB8AC3E}">
        <p14:creationId xmlns:p14="http://schemas.microsoft.com/office/powerpoint/2010/main" val="420029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function to find a correlation between every feature along an dependent axis.  </a:t>
            </a:r>
          </a:p>
          <a:p>
            <a:endParaRPr lang="en-US" dirty="0"/>
          </a:p>
          <a:p>
            <a:r>
              <a:rPr lang="en-US" dirty="0"/>
              <a:t>It was because every sample packet contained data on only a single</a:t>
            </a:r>
            <a:r>
              <a:rPr lang="en-US" baseline="0" dirty="0"/>
              <a:t> feature along this axis</a:t>
            </a:r>
            <a:r>
              <a:rPr lang="en-US" dirty="0"/>
              <a:t>.</a:t>
            </a:r>
          </a:p>
          <a:p>
            <a:r>
              <a:rPr lang="en-US" dirty="0"/>
              <a:t>You’ll note that the correlation function</a:t>
            </a:r>
            <a:r>
              <a:rPr lang="en-US" baseline="0" dirty="0"/>
              <a:t> has a dependency on the other access</a:t>
            </a:r>
            <a:endParaRPr lang="en-US" dirty="0"/>
          </a:p>
          <a:p>
            <a:endParaRPr lang="en-US" dirty="0"/>
          </a:p>
          <a:p>
            <a:r>
              <a:rPr lang="en-US" b="0" baseline="0" dirty="0"/>
              <a:t>To strip out the dependence on the </a:t>
            </a:r>
            <a:r>
              <a:rPr lang="en-US" b="0" baseline="0" dirty="0" err="1"/>
              <a:t>the</a:t>
            </a:r>
            <a:r>
              <a:rPr lang="en-US" b="0" baseline="0" dirty="0"/>
              <a:t> other axis, we sum them to gain a </a:t>
            </a:r>
            <a:r>
              <a:rPr lang="en-US" b="1" baseline="0" dirty="0"/>
              <a:t>Correlated Sum per Feature Pair.	</a:t>
            </a:r>
          </a:p>
          <a:p>
            <a:endParaRPr lang="en-US" b="0" baseline="0" dirty="0"/>
          </a:p>
          <a:p>
            <a:r>
              <a:rPr lang="en-US" b="0" baseline="0" dirty="0"/>
              <a:t>We also test a ABS to build object edges, and a Anti to disperse the objects in a counter hypothesis.</a:t>
            </a:r>
          </a:p>
          <a:p>
            <a:endParaRPr lang="en-US" b="0" baseline="0" dirty="0"/>
          </a:p>
          <a:p>
            <a:r>
              <a:rPr lang="en-US" b="0" baseline="0" dirty="0"/>
              <a:t>We also generate a total we use in the ordering algorithm. </a:t>
            </a:r>
          </a:p>
        </p:txBody>
      </p:sp>
      <p:sp>
        <p:nvSpPr>
          <p:cNvPr id="4" name="Slide Number Placeholder 3"/>
          <p:cNvSpPr>
            <a:spLocks noGrp="1"/>
          </p:cNvSpPr>
          <p:nvPr>
            <p:ph type="sldNum" sz="quarter" idx="10"/>
          </p:nvPr>
        </p:nvSpPr>
        <p:spPr/>
        <p:txBody>
          <a:bodyPr/>
          <a:lstStyle/>
          <a:p>
            <a:fld id="{BBF263E6-1E4B-4188-A42C-59016D784BA2}" type="slidenum">
              <a:rPr lang="en-US" smtClean="0"/>
              <a:t>17</a:t>
            </a:fld>
            <a:endParaRPr lang="en-US"/>
          </a:p>
        </p:txBody>
      </p:sp>
    </p:spTree>
    <p:extLst>
      <p:ext uri="{BB962C8B-B14F-4D97-AF65-F5344CB8AC3E}">
        <p14:creationId xmlns:p14="http://schemas.microsoft.com/office/powerpoint/2010/main" val="3855006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are plots of two samples, one benign and the other infected, with a 3-wide entropy filter.</a:t>
            </a:r>
          </a:p>
          <a:p>
            <a:endParaRPr lang="en-US" baseline="0" dirty="0"/>
          </a:p>
          <a:p>
            <a:r>
              <a:rPr lang="en-US" baseline="0" dirty="0"/>
              <a:t>Correlated rows and columns concentrates groups of data points into objects while the anti-correlated disperses them.</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19</a:t>
            </a:fld>
            <a:endParaRPr lang="en-US"/>
          </a:p>
        </p:txBody>
      </p:sp>
    </p:spTree>
    <p:extLst>
      <p:ext uri="{BB962C8B-B14F-4D97-AF65-F5344CB8AC3E}">
        <p14:creationId xmlns:p14="http://schemas.microsoft.com/office/powerpoint/2010/main" val="3848754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a:t>
            </a:r>
            <a:r>
              <a:rPr lang="en-US" baseline="0" dirty="0"/>
              <a:t> paper used lenet-5, but it took awhile.</a:t>
            </a:r>
          </a:p>
          <a:p>
            <a:endParaRPr lang="en-US" baseline="0" dirty="0"/>
          </a:p>
          <a:p>
            <a:r>
              <a:rPr lang="en-US" baseline="0" dirty="0"/>
              <a:t>Decided to use the latest fastest models.</a:t>
            </a:r>
          </a:p>
          <a:p>
            <a:endParaRPr lang="en-US" baseline="0" dirty="0"/>
          </a:p>
          <a:p>
            <a:r>
              <a:rPr lang="en-US" baseline="0" dirty="0"/>
              <a:t>Performed testing with about 20 models and found three that saturate training within 3 epochs.</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20</a:t>
            </a:fld>
            <a:endParaRPr lang="en-US"/>
          </a:p>
        </p:txBody>
      </p:sp>
    </p:spTree>
    <p:extLst>
      <p:ext uri="{BB962C8B-B14F-4D97-AF65-F5344CB8AC3E}">
        <p14:creationId xmlns:p14="http://schemas.microsoft.com/office/powerpoint/2010/main" val="3064485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21</a:t>
            </a:fld>
            <a:endParaRPr lang="en-US"/>
          </a:p>
        </p:txBody>
      </p:sp>
    </p:spTree>
    <p:extLst>
      <p:ext uri="{BB962C8B-B14F-4D97-AF65-F5344CB8AC3E}">
        <p14:creationId xmlns:p14="http://schemas.microsoft.com/office/powerpoint/2010/main" val="1050072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22</a:t>
            </a:fld>
            <a:endParaRPr lang="en-US"/>
          </a:p>
        </p:txBody>
      </p:sp>
    </p:spTree>
    <p:extLst>
      <p:ext uri="{BB962C8B-B14F-4D97-AF65-F5344CB8AC3E}">
        <p14:creationId xmlns:p14="http://schemas.microsoft.com/office/powerpoint/2010/main" val="22427628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general all of our models performed better than average when</a:t>
            </a:r>
            <a:r>
              <a:rPr lang="en-US" baseline="0" dirty="0"/>
              <a:t> we used correlation to ordered the independent axis.</a:t>
            </a:r>
          </a:p>
          <a:p>
            <a:endParaRPr lang="en-US" baseline="0" dirty="0"/>
          </a:p>
          <a:p>
            <a:r>
              <a:rPr lang="en-US" baseline="0" dirty="0"/>
              <a:t>Four of six performed better than average when using correlation to order the dependent longer axis, and four of six performed much worst than average when ordering the same axis using anti-correlated ordering.</a:t>
            </a:r>
          </a:p>
          <a:p>
            <a:endParaRPr lang="en-US" dirty="0"/>
          </a:p>
          <a:p>
            <a:r>
              <a:rPr lang="en-US" dirty="0"/>
              <a:t>Lenet-5 and </a:t>
            </a:r>
            <a:r>
              <a:rPr lang="en-US" dirty="0" err="1"/>
              <a:t>DenseNet</a:t>
            </a:r>
            <a:r>
              <a:rPr lang="en-US" dirty="0"/>
              <a:t> followed our hypothesis</a:t>
            </a:r>
            <a:r>
              <a:rPr lang="en-US" baseline="0" dirty="0"/>
              <a:t> almost exactly, followed by Inception and </a:t>
            </a:r>
            <a:r>
              <a:rPr lang="en-US" baseline="0" dirty="0" err="1"/>
              <a:t>Xception</a:t>
            </a:r>
            <a:r>
              <a:rPr lang="en-US" baseline="0" dirty="0"/>
              <a:t>.  The later two also appreciate abs-correlated on the Independent axis</a:t>
            </a:r>
          </a:p>
          <a:p>
            <a:endParaRPr lang="en-US" dirty="0"/>
          </a:p>
          <a:p>
            <a:r>
              <a:rPr lang="en-US" baseline="0" dirty="0" err="1"/>
              <a:t>Resnet</a:t>
            </a:r>
            <a:r>
              <a:rPr lang="en-US" baseline="0" dirty="0"/>
              <a:t> behaved the worst overall and against the hypothesis, performed better using anti-correlated over the other options.</a:t>
            </a:r>
          </a:p>
          <a:p>
            <a:endParaRPr lang="en-US" baseline="0" dirty="0"/>
          </a:p>
          <a:p>
            <a:r>
              <a:rPr lang="en-US" baseline="0" dirty="0" err="1"/>
              <a:t>MobileNet</a:t>
            </a:r>
            <a:r>
              <a:rPr lang="en-US" baseline="0" dirty="0"/>
              <a:t> did not like any of the ordering schemes we presented for the longer, dependent axis, but did well with all of the schemes with the shorter independent axis.</a:t>
            </a:r>
          </a:p>
        </p:txBody>
      </p:sp>
      <p:sp>
        <p:nvSpPr>
          <p:cNvPr id="4" name="Slide Number Placeholder 3"/>
          <p:cNvSpPr>
            <a:spLocks noGrp="1"/>
          </p:cNvSpPr>
          <p:nvPr>
            <p:ph type="sldNum" sz="quarter" idx="10"/>
          </p:nvPr>
        </p:nvSpPr>
        <p:spPr/>
        <p:txBody>
          <a:bodyPr/>
          <a:lstStyle/>
          <a:p>
            <a:fld id="{BBF263E6-1E4B-4188-A42C-59016D784BA2}" type="slidenum">
              <a:rPr lang="en-US" smtClean="0"/>
              <a:t>33</a:t>
            </a:fld>
            <a:endParaRPr lang="en-US"/>
          </a:p>
        </p:txBody>
      </p:sp>
    </p:spTree>
    <p:extLst>
      <p:ext uri="{BB962C8B-B14F-4D97-AF65-F5344CB8AC3E}">
        <p14:creationId xmlns:p14="http://schemas.microsoft.com/office/powerpoint/2010/main" val="35724522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non-natural data are computer</a:t>
            </a:r>
            <a:r>
              <a:rPr lang="en-US" baseline="0" dirty="0"/>
              <a:t> process metrics.</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34</a:t>
            </a:fld>
            <a:endParaRPr lang="en-US"/>
          </a:p>
        </p:txBody>
      </p:sp>
    </p:spTree>
    <p:extLst>
      <p:ext uri="{BB962C8B-B14F-4D97-AF65-F5344CB8AC3E}">
        <p14:creationId xmlns:p14="http://schemas.microsoft.com/office/powerpoint/2010/main" val="4042764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36</a:t>
            </a:fld>
            <a:endParaRPr lang="en-US"/>
          </a:p>
        </p:txBody>
      </p:sp>
    </p:spTree>
    <p:extLst>
      <p:ext uri="{BB962C8B-B14F-4D97-AF65-F5344CB8AC3E}">
        <p14:creationId xmlns:p14="http://schemas.microsoft.com/office/powerpoint/2010/main" val="39365743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Inception behaved like Lenet-5</a:t>
            </a:r>
            <a:r>
              <a:rPr lang="en-US" baseline="0" dirty="0"/>
              <a:t> liking correlation and not liking anti-correlation.</a:t>
            </a:r>
          </a:p>
          <a:p>
            <a:r>
              <a:rPr lang="en-US" baseline="0" dirty="0" err="1"/>
              <a:t>Resnet</a:t>
            </a:r>
            <a:r>
              <a:rPr lang="en-US" baseline="0" dirty="0"/>
              <a:t> behaved the worst, and surprising liked </a:t>
            </a:r>
            <a:r>
              <a:rPr lang="en-US" baseline="0" dirty="0" err="1"/>
              <a:t>anticorrelated</a:t>
            </a:r>
            <a:r>
              <a:rPr lang="en-US" baseline="0" dirty="0"/>
              <a:t> over the other options.</a:t>
            </a:r>
          </a:p>
          <a:p>
            <a:r>
              <a:rPr lang="en-US" baseline="0" dirty="0" err="1"/>
              <a:t>MobileNet</a:t>
            </a:r>
            <a:r>
              <a:rPr lang="en-US" baseline="0" dirty="0"/>
              <a:t> did not like any of the ordering schemes we presented for the longer, summed axis, but did well with the shorter independent axis.</a:t>
            </a:r>
          </a:p>
          <a:p>
            <a:r>
              <a:rPr lang="en-US" baseline="0" dirty="0" err="1"/>
              <a:t>Xception</a:t>
            </a:r>
            <a:r>
              <a:rPr lang="en-US" baseline="0" dirty="0"/>
              <a:t> and Dense both were order performance independent, but noticed a slight improvement when correlation was used to derive the ordering scheme.</a:t>
            </a:r>
            <a:endParaRPr lang="en-US" dirty="0"/>
          </a:p>
        </p:txBody>
      </p:sp>
      <p:sp>
        <p:nvSpPr>
          <p:cNvPr id="4" name="Slide Number Placeholder 3"/>
          <p:cNvSpPr>
            <a:spLocks noGrp="1"/>
          </p:cNvSpPr>
          <p:nvPr>
            <p:ph type="sldNum" sz="quarter" idx="10"/>
          </p:nvPr>
        </p:nvSpPr>
        <p:spPr/>
        <p:txBody>
          <a:bodyPr/>
          <a:lstStyle/>
          <a:p>
            <a:fld id="{BBF263E6-1E4B-4188-A42C-59016D784BA2}" type="slidenum">
              <a:rPr lang="en-US" smtClean="0"/>
              <a:t>40</a:t>
            </a:fld>
            <a:endParaRPr lang="en-US"/>
          </a:p>
        </p:txBody>
      </p:sp>
    </p:spTree>
    <p:extLst>
      <p:ext uri="{BB962C8B-B14F-4D97-AF65-F5344CB8AC3E}">
        <p14:creationId xmlns:p14="http://schemas.microsoft.com/office/powerpoint/2010/main" val="1883430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8ACC6A-FB32-47A0-8635-BFF20DB49927}" type="datetimeFigureOut">
              <a:rPr lang="en-US" smtClean="0"/>
              <a:t>8/4/2023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2956133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8ACC6A-FB32-47A0-8635-BFF20DB49927}" type="datetimeFigureOut">
              <a:rPr lang="en-US" smtClean="0"/>
              <a:t>8/4/2023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2791109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F8ACC6A-FB32-47A0-8635-BFF20DB49927}" type="datetimeFigureOut">
              <a:rPr lang="en-US" smtClean="0"/>
              <a:t>8/4/2023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2858418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8ACC6A-FB32-47A0-8635-BFF20DB49927}" type="datetimeFigureOut">
              <a:rPr lang="en-US" smtClean="0"/>
              <a:t>8/4/2023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2378032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8ACC6A-FB32-47A0-8635-BFF20DB49927}" type="datetimeFigureOut">
              <a:rPr lang="en-US" smtClean="0"/>
              <a:t>8/4/2023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125249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8ACC6A-FB32-47A0-8635-BFF20DB49927}" type="datetimeFigureOut">
              <a:rPr lang="en-US" smtClean="0"/>
              <a:t>8/4/2023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1158405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8ACC6A-FB32-47A0-8635-BFF20DB49927}" type="datetimeFigureOut">
              <a:rPr lang="en-US" smtClean="0"/>
              <a:t>8/4/2023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201231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8ACC6A-FB32-47A0-8635-BFF20DB49927}" type="datetimeFigureOut">
              <a:rPr lang="en-US" smtClean="0"/>
              <a:t>8/4/2023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847345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8ACC6A-FB32-47A0-8635-BFF20DB49927}" type="datetimeFigureOut">
              <a:rPr lang="en-US" smtClean="0"/>
              <a:t>8/4/2023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300529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8ACC6A-FB32-47A0-8635-BFF20DB49927}" type="datetimeFigureOut">
              <a:rPr lang="en-US" smtClean="0"/>
              <a:t>8/4/2023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3500548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8ACC6A-FB32-47A0-8635-BFF20DB49927}" type="datetimeFigureOut">
              <a:rPr lang="en-US" smtClean="0"/>
              <a:t>8/4/2023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A4AB7-D37C-4E8F-9F6D-7EDABDB3933F}" type="slidenum">
              <a:rPr lang="en-US" smtClean="0"/>
              <a:t>‹#›</a:t>
            </a:fld>
            <a:endParaRPr lang="en-US"/>
          </a:p>
        </p:txBody>
      </p:sp>
    </p:spTree>
    <p:extLst>
      <p:ext uri="{BB962C8B-B14F-4D97-AF65-F5344CB8AC3E}">
        <p14:creationId xmlns:p14="http://schemas.microsoft.com/office/powerpoint/2010/main" val="3156875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8ACC6A-FB32-47A0-8635-BFF20DB49927}" type="datetimeFigureOut">
              <a:rPr lang="en-US" smtClean="0"/>
              <a:t>8/4/2023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0A4AB7-D37C-4E8F-9F6D-7EDABDB3933F}" type="slidenum">
              <a:rPr lang="en-US" smtClean="0"/>
              <a:t>‹#›</a:t>
            </a:fld>
            <a:endParaRPr lang="en-US"/>
          </a:p>
        </p:txBody>
      </p:sp>
    </p:spTree>
    <p:extLst>
      <p:ext uri="{BB962C8B-B14F-4D97-AF65-F5344CB8AC3E}">
        <p14:creationId xmlns:p14="http://schemas.microsoft.com/office/powerpoint/2010/main" val="506550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3.emf"/><Relationship Id="rId5" Type="http://schemas.openxmlformats.org/officeDocument/2006/relationships/package" Target="../embeddings/Microsoft_Excel_Worksheet2.xlsx"/><Relationship Id="rId4" Type="http://schemas.openxmlformats.org/officeDocument/2006/relationships/image" Target="../media/image72.emf"/></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package" Target="../embeddings/Microsoft_Excel_Worksheet3.xlsx"/><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9474682" y="5793391"/>
            <a:ext cx="1569463" cy="488225"/>
          </a:xfrm>
          <a:prstGeom prst="rect">
            <a:avLst/>
          </a:prstGeom>
        </p:spPr>
      </p:pic>
      <p:pic>
        <p:nvPicPr>
          <p:cNvPr id="9" name="Picture 8"/>
          <p:cNvPicPr>
            <a:picLocks noChangeAspect="1"/>
          </p:cNvPicPr>
          <p:nvPr/>
        </p:nvPicPr>
        <p:blipFill>
          <a:blip r:embed="rId4"/>
          <a:stretch>
            <a:fillRect/>
          </a:stretch>
        </p:blipFill>
        <p:spPr>
          <a:xfrm>
            <a:off x="9740706" y="575193"/>
            <a:ext cx="1037417" cy="560148"/>
          </a:xfrm>
          <a:prstGeom prst="rect">
            <a:avLst/>
          </a:prstGeom>
        </p:spPr>
      </p:pic>
      <p:pic>
        <p:nvPicPr>
          <p:cNvPr id="10" name="Picture 9"/>
          <p:cNvPicPr>
            <a:picLocks noChangeAspect="1"/>
          </p:cNvPicPr>
          <p:nvPr/>
        </p:nvPicPr>
        <p:blipFill>
          <a:blip r:embed="rId5"/>
          <a:stretch>
            <a:fillRect/>
          </a:stretch>
        </p:blipFill>
        <p:spPr>
          <a:xfrm>
            <a:off x="952892" y="5793391"/>
            <a:ext cx="2723578" cy="426780"/>
          </a:xfrm>
          <a:prstGeom prst="rect">
            <a:avLst/>
          </a:prstGeom>
        </p:spPr>
      </p:pic>
      <p:pic>
        <p:nvPicPr>
          <p:cNvPr id="11" name="Picture 10"/>
          <p:cNvPicPr>
            <a:picLocks noChangeAspect="1"/>
          </p:cNvPicPr>
          <p:nvPr/>
        </p:nvPicPr>
        <p:blipFill>
          <a:blip r:embed="rId6"/>
          <a:stretch>
            <a:fillRect/>
          </a:stretch>
        </p:blipFill>
        <p:spPr>
          <a:xfrm>
            <a:off x="915740" y="676648"/>
            <a:ext cx="2760730" cy="357237"/>
          </a:xfrm>
          <a:prstGeom prst="rect">
            <a:avLst/>
          </a:prstGeom>
        </p:spPr>
      </p:pic>
      <p:sp>
        <p:nvSpPr>
          <p:cNvPr id="3" name="Rectangle 2"/>
          <p:cNvSpPr/>
          <p:nvPr/>
        </p:nvSpPr>
        <p:spPr>
          <a:xfrm>
            <a:off x="1298013" y="1500737"/>
            <a:ext cx="9706399" cy="1200329"/>
          </a:xfrm>
          <a:prstGeom prst="rect">
            <a:avLst/>
          </a:prstGeom>
        </p:spPr>
        <p:txBody>
          <a:bodyPr wrap="square">
            <a:spAutoFit/>
          </a:bodyPr>
          <a:lstStyle/>
          <a:p>
            <a:pPr algn="ctr"/>
            <a:r>
              <a:rPr lang="en-US" sz="4000" dirty="0">
                <a:latin typeface="Times New Roman" panose="02020603050405020304" pitchFamily="18" charset="0"/>
                <a:cs typeface="Times New Roman" panose="02020603050405020304" pitchFamily="18" charset="0"/>
              </a:rPr>
              <a:t>Advances Towards Preferred Order for CNN </a:t>
            </a:r>
            <a:br>
              <a:rPr lang="en-US" sz="40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(Deriving Natural Order in a Non-Natural World)</a:t>
            </a:r>
          </a:p>
        </p:txBody>
      </p:sp>
      <p:sp>
        <p:nvSpPr>
          <p:cNvPr id="4" name="Rectangle 3"/>
          <p:cNvSpPr/>
          <p:nvPr/>
        </p:nvSpPr>
        <p:spPr>
          <a:xfrm>
            <a:off x="3103212" y="2921057"/>
            <a:ext cx="6096000" cy="1200329"/>
          </a:xfrm>
          <a:prstGeom prst="rect">
            <a:avLst/>
          </a:prstGeom>
        </p:spPr>
        <p:txBody>
          <a:bodyPr>
            <a:spAutoFit/>
          </a:bodyPr>
          <a:lstStyle/>
          <a:p>
            <a:pPr algn="ctr"/>
            <a:r>
              <a:rPr lang="en-US" dirty="0">
                <a:latin typeface="Times New Roman" panose="02020603050405020304" pitchFamily="18" charset="0"/>
                <a:cs typeface="Times New Roman" panose="02020603050405020304" pitchFamily="18" charset="0"/>
              </a:rPr>
              <a:t>Randy Klepetko </a:t>
            </a:r>
          </a:p>
          <a:p>
            <a:pPr algn="ctr"/>
            <a:r>
              <a:rPr lang="en-US" dirty="0">
                <a:latin typeface="Times New Roman" panose="02020603050405020304" pitchFamily="18" charset="0"/>
                <a:cs typeface="Times New Roman" panose="02020603050405020304" pitchFamily="18" charset="0"/>
              </a:rPr>
              <a:t>Department of Electrical and Computer Engineering</a:t>
            </a:r>
          </a:p>
          <a:p>
            <a:pPr algn="ctr"/>
            <a:r>
              <a:rPr lang="en-US" dirty="0">
                <a:latin typeface="Times New Roman" panose="02020603050405020304" pitchFamily="18" charset="0"/>
                <a:cs typeface="Times New Roman" panose="02020603050405020304" pitchFamily="18" charset="0"/>
              </a:rPr>
              <a:t>University of Texas at San Antonio, San Antonio, Texas, USA</a:t>
            </a:r>
          </a:p>
          <a:p>
            <a:pPr algn="ctr"/>
            <a:r>
              <a:rPr lang="en-US" dirty="0">
                <a:latin typeface="Times New Roman" panose="02020603050405020304" pitchFamily="18" charset="0"/>
                <a:cs typeface="Times New Roman" panose="02020603050405020304" pitchFamily="18" charset="0"/>
              </a:rPr>
              <a:t>randy.klepetko@my.utsa.edu</a:t>
            </a:r>
          </a:p>
        </p:txBody>
      </p:sp>
      <p:sp>
        <p:nvSpPr>
          <p:cNvPr id="12" name="Rectangle 11"/>
          <p:cNvSpPr/>
          <p:nvPr/>
        </p:nvSpPr>
        <p:spPr>
          <a:xfrm>
            <a:off x="3103212" y="4341378"/>
            <a:ext cx="6096000" cy="1754326"/>
          </a:xfrm>
          <a:prstGeom prst="rect">
            <a:avLst/>
          </a:prstGeom>
        </p:spPr>
        <p:txBody>
          <a:bodyPr>
            <a:spAutoFit/>
          </a:bodyPr>
          <a:lstStyle/>
          <a:p>
            <a:pPr algn="ctr"/>
            <a:r>
              <a:rPr lang="en-US" dirty="0">
                <a:latin typeface="Times New Roman" panose="02020603050405020304" pitchFamily="18" charset="0"/>
                <a:cs typeface="Times New Roman" panose="02020603050405020304" pitchFamily="18" charset="0"/>
              </a:rPr>
              <a:t>Dissertation Committee:</a:t>
            </a:r>
          </a:p>
          <a:p>
            <a:pPr algn="ctr"/>
            <a:r>
              <a:rPr lang="en-US" dirty="0">
                <a:latin typeface="Times New Roman" panose="02020603050405020304" pitchFamily="18" charset="0"/>
                <a:cs typeface="Times New Roman" panose="02020603050405020304" pitchFamily="18" charset="0"/>
              </a:rPr>
              <a:t>Ram Krishnan, Ph.D.</a:t>
            </a:r>
          </a:p>
          <a:p>
            <a:pPr algn="ctr"/>
            <a:r>
              <a:rPr lang="en-US" dirty="0" err="1">
                <a:latin typeface="Times New Roman" panose="02020603050405020304" pitchFamily="18" charset="0"/>
                <a:cs typeface="Times New Roman" panose="02020603050405020304" pitchFamily="18" charset="0"/>
              </a:rPr>
              <a:t>Artyom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Grigoryan</a:t>
            </a:r>
            <a:r>
              <a:rPr lang="en-US" dirty="0">
                <a:latin typeface="Times New Roman" panose="02020603050405020304" pitchFamily="18" charset="0"/>
                <a:cs typeface="Times New Roman" panose="02020603050405020304" pitchFamily="18" charset="0"/>
              </a:rPr>
              <a:t>, Ph.D.</a:t>
            </a:r>
          </a:p>
          <a:p>
            <a:pPr algn="ctr"/>
            <a:r>
              <a:rPr lang="en-US" dirty="0" err="1">
                <a:latin typeface="Times New Roman" panose="02020603050405020304" pitchFamily="18" charset="0"/>
                <a:cs typeface="Times New Roman" panose="02020603050405020304" pitchFamily="18" charset="0"/>
              </a:rPr>
              <a:t>Yanmin</a:t>
            </a:r>
            <a:r>
              <a:rPr lang="en-US" dirty="0">
                <a:latin typeface="Times New Roman" panose="02020603050405020304" pitchFamily="18" charset="0"/>
                <a:cs typeface="Times New Roman" panose="02020603050405020304" pitchFamily="18" charset="0"/>
              </a:rPr>
              <a:t> Gong, Ph.D.</a:t>
            </a:r>
          </a:p>
          <a:p>
            <a:pPr algn="ctr"/>
            <a:r>
              <a:rPr lang="en-US" dirty="0">
                <a:latin typeface="Times New Roman" panose="02020603050405020304" pitchFamily="18" charset="0"/>
                <a:cs typeface="Times New Roman" panose="02020603050405020304" pitchFamily="18" charset="0"/>
              </a:rPr>
              <a:t>Jeff Prevost, Ph.D.</a:t>
            </a:r>
          </a:p>
          <a:p>
            <a:pPr algn="ct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342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 and Motivation</a:t>
            </a:r>
          </a:p>
        </p:txBody>
      </p:sp>
      <p:sp>
        <p:nvSpPr>
          <p:cNvPr id="3" name="Content Placeholder 2"/>
          <p:cNvSpPr>
            <a:spLocks noGrp="1"/>
          </p:cNvSpPr>
          <p:nvPr>
            <p:ph idx="1"/>
          </p:nvPr>
        </p:nvSpPr>
        <p:spPr>
          <a:xfrm>
            <a:off x="838200" y="1825624"/>
            <a:ext cx="10515600" cy="4708525"/>
          </a:xfrm>
        </p:spPr>
        <p:txBody>
          <a:bodyPr/>
          <a:lstStyle/>
          <a:p>
            <a:r>
              <a:rPr lang="en-US" dirty="0"/>
              <a:t>CNNs classify images</a:t>
            </a:r>
          </a:p>
          <a:p>
            <a:r>
              <a:rPr lang="en-US" dirty="0"/>
              <a:t>Also classify non-image data</a:t>
            </a:r>
          </a:p>
          <a:p>
            <a:pPr lvl="1"/>
            <a:r>
              <a:rPr lang="en-US" dirty="0"/>
              <a:t>Sound, genes, etc.</a:t>
            </a:r>
          </a:p>
          <a:p>
            <a:pPr lvl="1"/>
            <a:r>
              <a:rPr lang="en-US" dirty="0"/>
              <a:t>Sensors, security</a:t>
            </a:r>
          </a:p>
          <a:p>
            <a:r>
              <a:rPr lang="en-US" dirty="0"/>
              <a:t>CNN input format: vectors/matrices/tensors</a:t>
            </a:r>
          </a:p>
          <a:p>
            <a:r>
              <a:rPr lang="en-US" dirty="0"/>
              <a:t>Natural sources have natural vector order</a:t>
            </a:r>
          </a:p>
          <a:p>
            <a:pPr lvl="1"/>
            <a:r>
              <a:rPr lang="en-US" dirty="0"/>
              <a:t>CNNs leverage this to learn local and global patterns</a:t>
            </a:r>
          </a:p>
          <a:p>
            <a:r>
              <a:rPr lang="en-US" dirty="0"/>
              <a:t>Organizing non-natural data when using CNN</a:t>
            </a:r>
          </a:p>
          <a:p>
            <a:pPr lvl="1"/>
            <a:r>
              <a:rPr lang="en-US" dirty="0"/>
              <a:t>Does the order matter?</a:t>
            </a:r>
          </a:p>
        </p:txBody>
      </p:sp>
    </p:spTree>
    <p:extLst>
      <p:ext uri="{BB962C8B-B14F-4D97-AF65-F5344CB8AC3E}">
        <p14:creationId xmlns:p14="http://schemas.microsoft.com/office/powerpoint/2010/main" val="4135691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Picture 109"/>
          <p:cNvPicPr>
            <a:picLocks noChangeAspect="1"/>
          </p:cNvPicPr>
          <p:nvPr/>
        </p:nvPicPr>
        <p:blipFill>
          <a:blip r:embed="rId3"/>
          <a:stretch>
            <a:fillRect/>
          </a:stretch>
        </p:blipFill>
        <p:spPr>
          <a:xfrm>
            <a:off x="4585332" y="4037312"/>
            <a:ext cx="1959353" cy="1959353"/>
          </a:xfrm>
          <a:prstGeom prst="rect">
            <a:avLst/>
          </a:prstGeom>
        </p:spPr>
      </p:pic>
      <p:pic>
        <p:nvPicPr>
          <p:cNvPr id="109" name="Picture 108"/>
          <p:cNvPicPr>
            <a:picLocks noChangeAspect="1"/>
          </p:cNvPicPr>
          <p:nvPr/>
        </p:nvPicPr>
        <p:blipFill>
          <a:blip r:embed="rId4"/>
          <a:stretch>
            <a:fillRect/>
          </a:stretch>
        </p:blipFill>
        <p:spPr>
          <a:xfrm>
            <a:off x="7187097" y="4037312"/>
            <a:ext cx="1959352" cy="1959353"/>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1330325"/>
            <a:ext cx="3524250" cy="4666340"/>
          </a:xfrm>
          <a:prstGeom prst="rect">
            <a:avLst/>
          </a:prstGeom>
        </p:spPr>
      </p:pic>
      <p:sp>
        <p:nvSpPr>
          <p:cNvPr id="3" name="Title 1"/>
          <p:cNvSpPr>
            <a:spLocks noGrp="1"/>
          </p:cNvSpPr>
          <p:nvPr>
            <p:ph type="title"/>
          </p:nvPr>
        </p:nvSpPr>
        <p:spPr>
          <a:xfrm>
            <a:off x="838200" y="365125"/>
            <a:ext cx="4810125" cy="1054100"/>
          </a:xfrm>
        </p:spPr>
        <p:txBody>
          <a:bodyPr>
            <a:normAutofit/>
          </a:bodyPr>
          <a:lstStyle/>
          <a:p>
            <a:r>
              <a:rPr lang="en-US" dirty="0"/>
              <a:t>What is an Image?</a:t>
            </a:r>
          </a:p>
        </p:txBody>
      </p:sp>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5333" y="1760741"/>
            <a:ext cx="1959352" cy="1959352"/>
          </a:xfrm>
          <a:prstGeom prst="rect">
            <a:avLst/>
          </a:prstGeom>
        </p:spPr>
      </p:pic>
      <p:sp>
        <p:nvSpPr>
          <p:cNvPr id="5" name="Oval 4"/>
          <p:cNvSpPr/>
          <p:nvPr/>
        </p:nvSpPr>
        <p:spPr>
          <a:xfrm>
            <a:off x="3333750" y="3463470"/>
            <a:ext cx="381000" cy="400050"/>
          </a:xfrm>
          <a:prstGeom prst="ellipse">
            <a:avLst/>
          </a:prstGeom>
          <a:noFill/>
          <a:ln w="38100" cmpd="tri">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589821" y="1760741"/>
            <a:ext cx="1959352" cy="1959353"/>
          </a:xfrm>
          <a:prstGeom prst="ellipse">
            <a:avLst/>
          </a:prstGeom>
          <a:noFill/>
          <a:ln w="114300" cmpd="tri">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stCxn id="6" idx="2"/>
            <a:endCxn id="5" idx="7"/>
          </p:cNvCxnSpPr>
          <p:nvPr/>
        </p:nvCxnSpPr>
        <p:spPr>
          <a:xfrm flipH="1">
            <a:off x="3658954" y="2740418"/>
            <a:ext cx="930867" cy="781638"/>
          </a:xfrm>
          <a:prstGeom prst="line">
            <a:avLst/>
          </a:prstGeom>
          <a:ln w="508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50" idx="2"/>
            <a:endCxn id="93" idx="6"/>
          </p:cNvCxnSpPr>
          <p:nvPr/>
        </p:nvCxnSpPr>
        <p:spPr>
          <a:xfrm flipH="1">
            <a:off x="6219590" y="2397098"/>
            <a:ext cx="1605431" cy="56141"/>
          </a:xfrm>
          <a:prstGeom prst="line">
            <a:avLst/>
          </a:prstGeom>
          <a:ln w="508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54" idx="1"/>
            <a:endCxn id="6" idx="5"/>
          </p:cNvCxnSpPr>
          <p:nvPr/>
        </p:nvCxnSpPr>
        <p:spPr>
          <a:xfrm flipH="1" flipV="1">
            <a:off x="6262233" y="3433153"/>
            <a:ext cx="1211804" cy="891100"/>
          </a:xfrm>
          <a:prstGeom prst="line">
            <a:avLst/>
          </a:prstGeom>
          <a:ln w="508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6" idx="4"/>
            <a:endCxn id="55" idx="0"/>
          </p:cNvCxnSpPr>
          <p:nvPr/>
        </p:nvCxnSpPr>
        <p:spPr>
          <a:xfrm flipH="1">
            <a:off x="5565009" y="3720094"/>
            <a:ext cx="4488" cy="317218"/>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p:nvPicPr>
        <p:blipFill>
          <a:blip r:embed="rId7"/>
          <a:stretch>
            <a:fillRect/>
          </a:stretch>
        </p:blipFill>
        <p:spPr>
          <a:xfrm>
            <a:off x="7820533" y="615702"/>
            <a:ext cx="3911467" cy="3562350"/>
          </a:xfrm>
          <a:prstGeom prst="rect">
            <a:avLst/>
          </a:prstGeom>
        </p:spPr>
      </p:pic>
      <p:sp>
        <p:nvSpPr>
          <p:cNvPr id="50" name="Oval 49"/>
          <p:cNvSpPr/>
          <p:nvPr/>
        </p:nvSpPr>
        <p:spPr>
          <a:xfrm>
            <a:off x="7825021" y="615702"/>
            <a:ext cx="3906979" cy="3562791"/>
          </a:xfrm>
          <a:prstGeom prst="ellipse">
            <a:avLst/>
          </a:prstGeom>
          <a:noFill/>
          <a:ln w="114300" cmpd="tri">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7187097" y="4037312"/>
            <a:ext cx="1959352" cy="1959353"/>
          </a:xfrm>
          <a:prstGeom prst="ellipse">
            <a:avLst/>
          </a:prstGeom>
          <a:noFill/>
          <a:ln w="114300" cmpd="tri">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4585333" y="4037312"/>
            <a:ext cx="1959352" cy="1959353"/>
          </a:xfrm>
          <a:prstGeom prst="ellipse">
            <a:avLst/>
          </a:prstGeom>
          <a:noFill/>
          <a:ln w="114300" cmpd="tri">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p:cNvSpPr/>
          <p:nvPr/>
        </p:nvSpPr>
        <p:spPr>
          <a:xfrm>
            <a:off x="5329955" y="1986762"/>
            <a:ext cx="889635" cy="932954"/>
          </a:xfrm>
          <a:prstGeom prst="ellipse">
            <a:avLst/>
          </a:prstGeom>
          <a:noFill/>
          <a:ln w="38100" cmpd="tri">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876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838200" y="365125"/>
            <a:ext cx="3246912" cy="2045566"/>
          </a:xfrm>
        </p:spPr>
        <p:txBody>
          <a:bodyPr>
            <a:normAutofit/>
          </a:bodyPr>
          <a:lstStyle/>
          <a:p>
            <a:r>
              <a:rPr lang="en-US" dirty="0"/>
              <a:t>What is a Convolution?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3529" y="2510626"/>
            <a:ext cx="1896253" cy="3792503"/>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61990" y="3035159"/>
            <a:ext cx="5486876" cy="2743438"/>
          </a:xfrm>
          <a:prstGeom prst="rect">
            <a:avLst/>
          </a:prstGeom>
        </p:spPr>
      </p:pic>
      <p:cxnSp>
        <p:nvCxnSpPr>
          <p:cNvPr id="8" name="Straight Connector 7"/>
          <p:cNvCxnSpPr/>
          <p:nvPr/>
        </p:nvCxnSpPr>
        <p:spPr>
          <a:xfrm>
            <a:off x="6719455" y="1733797"/>
            <a:ext cx="58189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139543" y="1221179"/>
            <a:ext cx="58189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139543" y="1221179"/>
            <a:ext cx="0" cy="5126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719455" y="1221179"/>
            <a:ext cx="0" cy="5126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309263" y="1221179"/>
            <a:ext cx="0" cy="5126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9058894" y="1719942"/>
            <a:ext cx="58189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9640785" y="1207324"/>
            <a:ext cx="58189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9640785" y="1207324"/>
            <a:ext cx="0" cy="5126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0220697" y="1207324"/>
            <a:ext cx="0" cy="5126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9058894" y="1205819"/>
            <a:ext cx="0" cy="5126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581972" y="1795638"/>
            <a:ext cx="3246912" cy="4215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Filter Pair (Digital </a:t>
            </a:r>
            <a:r>
              <a:rPr lang="en-US" sz="1200" dirty="0" err="1"/>
              <a:t>Haar</a:t>
            </a:r>
            <a:r>
              <a:rPr lang="en-US" sz="1200" dirty="0"/>
              <a:t> Wavelets)</a:t>
            </a:r>
          </a:p>
        </p:txBody>
      </p:sp>
    </p:spTree>
    <p:extLst>
      <p:ext uri="{BB962C8B-B14F-4D97-AF65-F5344CB8AC3E}">
        <p14:creationId xmlns:p14="http://schemas.microsoft.com/office/powerpoint/2010/main" val="2554479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Convolutional Neural Networks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172" y="1690688"/>
            <a:ext cx="10063654" cy="4340890"/>
          </a:xfrm>
          <a:prstGeom prst="rect">
            <a:avLst/>
          </a:prstGeom>
        </p:spPr>
      </p:pic>
    </p:spTree>
    <p:extLst>
      <p:ext uri="{BB962C8B-B14F-4D97-AF65-F5344CB8AC3E}">
        <p14:creationId xmlns:p14="http://schemas.microsoft.com/office/powerpoint/2010/main" val="1284360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0411" y="1227339"/>
            <a:ext cx="4413204" cy="4413204"/>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19820" y="1227339"/>
            <a:ext cx="4413204" cy="4413204"/>
          </a:xfrm>
          <a:prstGeom prst="rect">
            <a:avLst/>
          </a:prstGeom>
        </p:spPr>
      </p:pic>
      <p:sp>
        <p:nvSpPr>
          <p:cNvPr id="6" name="Rectangle 5"/>
          <p:cNvSpPr/>
          <p:nvPr/>
        </p:nvSpPr>
        <p:spPr>
          <a:xfrm>
            <a:off x="1971620" y="5640543"/>
            <a:ext cx="3313612" cy="369332"/>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3-Wide Entropy of Dog Image</a:t>
            </a:r>
          </a:p>
        </p:txBody>
      </p:sp>
      <p:sp>
        <p:nvSpPr>
          <p:cNvPr id="7" name="Rectangle 6"/>
          <p:cNvSpPr/>
          <p:nvPr/>
        </p:nvSpPr>
        <p:spPr>
          <a:xfrm>
            <a:off x="6894718" y="5640544"/>
            <a:ext cx="3863408" cy="369332"/>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Layer of CNN Activation of Dog Image</a:t>
            </a:r>
          </a:p>
        </p:txBody>
      </p:sp>
    </p:spTree>
    <p:extLst>
      <p:ext uri="{BB962C8B-B14F-4D97-AF65-F5344CB8AC3E}">
        <p14:creationId xmlns:p14="http://schemas.microsoft.com/office/powerpoint/2010/main" val="421308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371" y="152291"/>
            <a:ext cx="10515600" cy="1325563"/>
          </a:xfrm>
        </p:spPr>
        <p:txBody>
          <a:bodyPr/>
          <a:lstStyle/>
          <a:p>
            <a:r>
              <a:rPr lang="en-US" dirty="0"/>
              <a:t>Non-Natural Datasets – IP Flows</a:t>
            </a:r>
          </a:p>
        </p:txBody>
      </p:sp>
      <p:sp>
        <p:nvSpPr>
          <p:cNvPr id="6" name="Content Placeholder 2"/>
          <p:cNvSpPr>
            <a:spLocks noGrp="1"/>
          </p:cNvSpPr>
          <p:nvPr>
            <p:ph idx="1"/>
          </p:nvPr>
        </p:nvSpPr>
        <p:spPr>
          <a:xfrm>
            <a:off x="838200" y="2805596"/>
            <a:ext cx="2677510" cy="1717675"/>
          </a:xfrm>
        </p:spPr>
        <p:txBody>
          <a:bodyPr/>
          <a:lstStyle/>
          <a:p>
            <a:r>
              <a:rPr lang="en-US" dirty="0"/>
              <a:t>CIC-IDS-2017</a:t>
            </a:r>
          </a:p>
          <a:p>
            <a:r>
              <a:rPr lang="en-US" dirty="0"/>
              <a:t>Public Dataset</a:t>
            </a:r>
          </a:p>
          <a:p>
            <a:r>
              <a:rPr lang="en-US" dirty="0"/>
              <a:t>Raw IP-Packets</a:t>
            </a:r>
          </a:p>
          <a:p>
            <a:endParaRPr lang="en-US" dirty="0"/>
          </a:p>
          <a:p>
            <a:endParaRPr lang="en-US" dirty="0"/>
          </a:p>
        </p:txBody>
      </p:sp>
      <p:sp>
        <p:nvSpPr>
          <p:cNvPr id="7" name="Content Placeholder 2"/>
          <p:cNvSpPr txBox="1">
            <a:spLocks/>
          </p:cNvSpPr>
          <p:nvPr/>
        </p:nvSpPr>
        <p:spPr>
          <a:xfrm>
            <a:off x="8498108" y="1825625"/>
            <a:ext cx="2776863" cy="50250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Truncate and Remove Physical Layer</a:t>
            </a:r>
          </a:p>
          <a:p>
            <a:r>
              <a:rPr lang="en-US" dirty="0"/>
              <a:t>First 160 Bytes Remaining</a:t>
            </a:r>
          </a:p>
          <a:p>
            <a:r>
              <a:rPr lang="en-US" dirty="0"/>
              <a:t>First 10 packets of Flow</a:t>
            </a:r>
          </a:p>
          <a:p>
            <a:r>
              <a:rPr lang="en-US" dirty="0"/>
              <a:t>Missing Data Padded with Zeros</a:t>
            </a:r>
          </a:p>
        </p:txBody>
      </p:sp>
      <p:pic>
        <p:nvPicPr>
          <p:cNvPr id="4" name="Picture 3"/>
          <p:cNvPicPr>
            <a:picLocks noChangeAspect="1"/>
          </p:cNvPicPr>
          <p:nvPr/>
        </p:nvPicPr>
        <p:blipFill>
          <a:blip r:embed="rId3"/>
          <a:stretch>
            <a:fillRect/>
          </a:stretch>
        </p:blipFill>
        <p:spPr>
          <a:xfrm>
            <a:off x="3515710" y="2358148"/>
            <a:ext cx="4537831" cy="2612572"/>
          </a:xfrm>
          <a:prstGeom prst="rect">
            <a:avLst/>
          </a:prstGeom>
        </p:spPr>
      </p:pic>
    </p:spTree>
    <p:extLst>
      <p:ext uri="{BB962C8B-B14F-4D97-AF65-F5344CB8AC3E}">
        <p14:creationId xmlns:p14="http://schemas.microsoft.com/office/powerpoint/2010/main" val="4242590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237" y="200716"/>
            <a:ext cx="4914900" cy="951809"/>
          </a:xfrm>
        </p:spPr>
        <p:txBody>
          <a:bodyPr/>
          <a:lstStyle/>
          <a:p>
            <a:r>
              <a:rPr lang="en-US" dirty="0"/>
              <a:t>What Order Is Best?</a:t>
            </a:r>
          </a:p>
        </p:txBody>
      </p:sp>
      <p:sp>
        <p:nvSpPr>
          <p:cNvPr id="6" name="TextBox 5"/>
          <p:cNvSpPr txBox="1"/>
          <p:nvPr/>
        </p:nvSpPr>
        <p:spPr>
          <a:xfrm>
            <a:off x="7886700" y="1152525"/>
            <a:ext cx="3676650" cy="3108543"/>
          </a:xfrm>
          <a:prstGeom prst="rect">
            <a:avLst/>
          </a:prstGeom>
          <a:noFill/>
        </p:spPr>
        <p:txBody>
          <a:bodyPr wrap="square" rtlCol="0">
            <a:spAutoFit/>
          </a:bodyPr>
          <a:lstStyle/>
          <a:p>
            <a:r>
              <a:rPr lang="en-US" sz="2800" b="1" dirty="0"/>
              <a:t>Hypothesis:</a:t>
            </a:r>
          </a:p>
          <a:p>
            <a:pPr marL="457200" indent="-457200">
              <a:buFont typeface="Arial" panose="020B0604020202020204" pitchFamily="34" charset="0"/>
              <a:buChar char="•"/>
            </a:pPr>
            <a:r>
              <a:rPr lang="en-US" sz="2800" dirty="0"/>
              <a:t>Order Matters</a:t>
            </a:r>
          </a:p>
          <a:p>
            <a:pPr marL="457200" indent="-457200">
              <a:buFont typeface="Arial" panose="020B0604020202020204" pitchFamily="34" charset="0"/>
              <a:buChar char="•"/>
            </a:pPr>
            <a:r>
              <a:rPr lang="en-US" sz="2800" dirty="0"/>
              <a:t>Images Offer Insight On Proper Order</a:t>
            </a:r>
          </a:p>
          <a:p>
            <a:pPr marL="457200" indent="-457200">
              <a:buFont typeface="Arial" panose="020B0604020202020204" pitchFamily="34" charset="0"/>
              <a:buChar char="•"/>
            </a:pPr>
            <a:r>
              <a:rPr lang="en-US" sz="2800" dirty="0"/>
              <a:t>Using Correlation as a Basis Performs Better Than Average</a:t>
            </a:r>
          </a:p>
        </p:txBody>
      </p:sp>
      <p:sp>
        <p:nvSpPr>
          <p:cNvPr id="9" name="TextBox 8"/>
          <p:cNvSpPr txBox="1"/>
          <p:nvPr/>
        </p:nvSpPr>
        <p:spPr>
          <a:xfrm>
            <a:off x="7929945" y="4376088"/>
            <a:ext cx="3633405" cy="1384995"/>
          </a:xfrm>
          <a:prstGeom prst="rect">
            <a:avLst/>
          </a:prstGeom>
          <a:noFill/>
        </p:spPr>
        <p:txBody>
          <a:bodyPr wrap="square" rtlCol="0">
            <a:spAutoFit/>
          </a:bodyPr>
          <a:lstStyle/>
          <a:p>
            <a:r>
              <a:rPr lang="en-US" sz="2800" dirty="0"/>
              <a:t>Problem applies to many types of datasets beyond security</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237" y="1676400"/>
            <a:ext cx="3415189" cy="1829056"/>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8426" y="3569169"/>
            <a:ext cx="3415189" cy="1829056"/>
          </a:xfrm>
          <a:prstGeom prst="rect">
            <a:avLst/>
          </a:prstGeom>
        </p:spPr>
      </p:pic>
      <p:pic>
        <p:nvPicPr>
          <p:cNvPr id="11" name="Picture 10"/>
          <p:cNvPicPr>
            <a:picLocks noChangeAspect="1"/>
          </p:cNvPicPr>
          <p:nvPr/>
        </p:nvPicPr>
        <p:blipFill rotWithShape="1">
          <a:blip r:embed="rId5">
            <a:extLst>
              <a:ext uri="{28A0092B-C50C-407E-A947-70E740481C1C}">
                <a14:useLocalDpi xmlns:a14="http://schemas.microsoft.com/office/drawing/2010/main" val="0"/>
              </a:ext>
            </a:extLst>
          </a:blip>
          <a:srcRect l="-272" t="-510" r="2122" b="510"/>
          <a:stretch/>
        </p:blipFill>
        <p:spPr>
          <a:xfrm>
            <a:off x="4118426" y="1676400"/>
            <a:ext cx="3352015" cy="1829056"/>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3237" y="3569169"/>
            <a:ext cx="3415189" cy="1829056"/>
          </a:xfrm>
          <a:prstGeom prst="rect">
            <a:avLst/>
          </a:prstGeom>
        </p:spPr>
      </p:pic>
    </p:spTree>
    <p:extLst>
      <p:ext uri="{BB962C8B-B14F-4D97-AF65-F5344CB8AC3E}">
        <p14:creationId xmlns:p14="http://schemas.microsoft.com/office/powerpoint/2010/main" val="2615376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1998"/>
            <a:ext cx="10515600" cy="1061027"/>
          </a:xfrm>
        </p:spPr>
        <p:txBody>
          <a:bodyPr/>
          <a:lstStyle/>
          <a:p>
            <a:r>
              <a:rPr lang="en-US" dirty="0"/>
              <a:t>Approach</a:t>
            </a:r>
          </a:p>
        </p:txBody>
      </p:sp>
      <p:sp>
        <p:nvSpPr>
          <p:cNvPr id="3" name="Content Placeholder 2"/>
          <p:cNvSpPr>
            <a:spLocks noGrp="1"/>
          </p:cNvSpPr>
          <p:nvPr>
            <p:ph idx="1"/>
          </p:nvPr>
        </p:nvSpPr>
        <p:spPr>
          <a:xfrm>
            <a:off x="838200" y="1343025"/>
            <a:ext cx="10515600" cy="4177724"/>
          </a:xfrm>
        </p:spPr>
        <p:txBody>
          <a:bodyPr>
            <a:normAutofit lnSpcReduction="10000"/>
          </a:bodyPr>
          <a:lstStyle/>
          <a:p>
            <a:r>
              <a:rPr lang="en-US" dirty="0"/>
              <a:t>Identify Datasets.</a:t>
            </a:r>
          </a:p>
          <a:p>
            <a:r>
              <a:rPr lang="en-US" dirty="0"/>
              <a:t>Defined strategies for row and column orderings</a:t>
            </a:r>
          </a:p>
          <a:p>
            <a:pPr lvl="1"/>
            <a:r>
              <a:rPr lang="en-US" dirty="0"/>
              <a:t>Randomly Determined – 100 random (10 per axis)</a:t>
            </a:r>
          </a:p>
          <a:p>
            <a:pPr lvl="1"/>
            <a:r>
              <a:rPr lang="en-US" dirty="0"/>
              <a:t>Structural Relationships – Logs, Specs, etc.</a:t>
            </a:r>
          </a:p>
          <a:p>
            <a:pPr lvl="1"/>
            <a:r>
              <a:rPr lang="en-US" dirty="0"/>
              <a:t>Image Mathematical Relationships – Statistical Correlation</a:t>
            </a:r>
          </a:p>
          <a:p>
            <a:r>
              <a:rPr lang="en-US" dirty="0"/>
              <a:t>Conducted extensive experimentation using above strategies</a:t>
            </a:r>
          </a:p>
          <a:p>
            <a:r>
              <a:rPr lang="en-US" dirty="0"/>
              <a:t>Run the process on multiple CNN models</a:t>
            </a:r>
          </a:p>
          <a:p>
            <a:r>
              <a:rPr lang="en-US" dirty="0"/>
              <a:t>Run the process on multiple data sets</a:t>
            </a:r>
          </a:p>
          <a:p>
            <a:r>
              <a:rPr lang="en-US" dirty="0"/>
              <a:t>Compared the results</a:t>
            </a:r>
          </a:p>
        </p:txBody>
      </p:sp>
    </p:spTree>
    <p:extLst>
      <p:ext uri="{BB962C8B-B14F-4D97-AF65-F5344CB8AC3E}">
        <p14:creationId xmlns:p14="http://schemas.microsoft.com/office/powerpoint/2010/main" val="4265338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325"/>
          </a:xfrm>
        </p:spPr>
        <p:txBody>
          <a:bodyPr/>
          <a:lstStyle/>
          <a:p>
            <a:r>
              <a:rPr lang="en-US" dirty="0"/>
              <a:t>Current Work - Publications:</a:t>
            </a:r>
          </a:p>
        </p:txBody>
      </p:sp>
      <p:sp>
        <p:nvSpPr>
          <p:cNvPr id="3" name="Content Placeholder 2"/>
          <p:cNvSpPr>
            <a:spLocks noGrp="1"/>
          </p:cNvSpPr>
          <p:nvPr>
            <p:ph idx="1"/>
          </p:nvPr>
        </p:nvSpPr>
        <p:spPr>
          <a:xfrm>
            <a:off x="838200" y="1390650"/>
            <a:ext cx="10515600" cy="4786313"/>
          </a:xfrm>
        </p:spPr>
        <p:txBody>
          <a:bodyPr/>
          <a:lstStyle/>
          <a:p>
            <a:r>
              <a:rPr lang="en-US" dirty="0"/>
              <a:t>Randy Klepetko and Ram Krishnan. "Analyzing CNN Model Performance Sensitivity to the Ordering of Non-Natural Data", 4th International Conference on Computing, Communications and Security (ICCCS). IEEE Rome, Italy, 2019.</a:t>
            </a:r>
          </a:p>
          <a:p>
            <a:r>
              <a:rPr lang="en-US" dirty="0"/>
              <a:t>Randy Klepetko and Ram Krishnan. "Analyzing CNN Models’ Sensitivity to the Ordering of Non-Natural Data", International Conference on Secure Knowledge Management in the Artificial Intelligence Era. Springer, San Antonio, Texas, 2021</a:t>
            </a:r>
          </a:p>
        </p:txBody>
      </p:sp>
    </p:spTree>
    <p:extLst>
      <p:ext uri="{BB962C8B-B14F-4D97-AF65-F5344CB8AC3E}">
        <p14:creationId xmlns:p14="http://schemas.microsoft.com/office/powerpoint/2010/main" val="3366766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371" y="152291"/>
            <a:ext cx="10515600" cy="1325563"/>
          </a:xfrm>
        </p:spPr>
        <p:txBody>
          <a:bodyPr/>
          <a:lstStyle/>
          <a:p>
            <a:r>
              <a:rPr lang="en-US" dirty="0"/>
              <a:t>Non-Natural Datasets – Process Metrics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5589" y="1477854"/>
            <a:ext cx="4763165" cy="4915586"/>
          </a:xfrm>
          <a:prstGeom prst="rect">
            <a:avLst/>
          </a:prstGeom>
        </p:spPr>
      </p:pic>
      <p:sp>
        <p:nvSpPr>
          <p:cNvPr id="6" name="Content Placeholder 2"/>
          <p:cNvSpPr>
            <a:spLocks noGrp="1"/>
          </p:cNvSpPr>
          <p:nvPr>
            <p:ph idx="1"/>
          </p:nvPr>
        </p:nvSpPr>
        <p:spPr>
          <a:xfrm>
            <a:off x="838200" y="1825625"/>
            <a:ext cx="2677510" cy="4351338"/>
          </a:xfrm>
        </p:spPr>
        <p:txBody>
          <a:bodyPr>
            <a:normAutofit/>
          </a:bodyPr>
          <a:lstStyle/>
          <a:p>
            <a:r>
              <a:rPr lang="en-US" dirty="0"/>
              <a:t>Detect Malware Infections</a:t>
            </a:r>
          </a:p>
          <a:p>
            <a:r>
              <a:rPr lang="en-US" dirty="0"/>
              <a:t>Computer Metrics</a:t>
            </a:r>
          </a:p>
          <a:p>
            <a:r>
              <a:rPr lang="en-US" dirty="0"/>
              <a:t>Sampled by Process</a:t>
            </a:r>
          </a:p>
          <a:p>
            <a:r>
              <a:rPr lang="en-US" dirty="0"/>
              <a:t>Sampled over Time</a:t>
            </a:r>
          </a:p>
        </p:txBody>
      </p:sp>
      <p:sp>
        <p:nvSpPr>
          <p:cNvPr id="7" name="Content Placeholder 2"/>
          <p:cNvSpPr txBox="1">
            <a:spLocks/>
          </p:cNvSpPr>
          <p:nvPr/>
        </p:nvSpPr>
        <p:spPr>
          <a:xfrm>
            <a:off x="8498107" y="1825625"/>
            <a:ext cx="277686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From Linux Virtual Machines</a:t>
            </a:r>
          </a:p>
          <a:p>
            <a:r>
              <a:rPr lang="en-US" dirty="0"/>
              <a:t>Cloud SaaS Environment</a:t>
            </a:r>
          </a:p>
          <a:p>
            <a:r>
              <a:rPr lang="en-US" dirty="0"/>
              <a:t>Some Machines are Infected with Malware</a:t>
            </a:r>
          </a:p>
        </p:txBody>
      </p:sp>
    </p:spTree>
    <p:extLst>
      <p:ext uri="{BB962C8B-B14F-4D97-AF65-F5344CB8AC3E}">
        <p14:creationId xmlns:p14="http://schemas.microsoft.com/office/powerpoint/2010/main" val="4248532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6123" y="1600200"/>
            <a:ext cx="5619751" cy="1042016"/>
          </a:xfrm>
        </p:spPr>
        <p:txBody>
          <a:bodyPr>
            <a:normAutofit/>
          </a:bodyPr>
          <a:lstStyle/>
          <a:p>
            <a:pPr algn="ctr"/>
            <a:r>
              <a:rPr lang="en-US" sz="3200" dirty="0"/>
              <a:t>Metrics Captured per Process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301" y="2440376"/>
            <a:ext cx="11575396" cy="2411541"/>
          </a:xfrm>
          <a:prstGeom prst="rect">
            <a:avLst/>
          </a:prstGeom>
        </p:spPr>
      </p:pic>
      <p:sp>
        <p:nvSpPr>
          <p:cNvPr id="5" name="Title 1"/>
          <p:cNvSpPr txBox="1">
            <a:spLocks/>
          </p:cNvSpPr>
          <p:nvPr/>
        </p:nvSpPr>
        <p:spPr>
          <a:xfrm>
            <a:off x="759371" y="15229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Non-Natural Datasets – Process Metrics</a:t>
            </a:r>
          </a:p>
        </p:txBody>
      </p:sp>
    </p:spTree>
    <p:extLst>
      <p:ext uri="{BB962C8B-B14F-4D97-AF65-F5344CB8AC3E}">
        <p14:creationId xmlns:p14="http://schemas.microsoft.com/office/powerpoint/2010/main" val="734819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p:cNvGrpSpPr/>
          <p:nvPr/>
        </p:nvGrpSpPr>
        <p:grpSpPr>
          <a:xfrm>
            <a:off x="1548098" y="1690688"/>
            <a:ext cx="9168224" cy="4453634"/>
            <a:chOff x="1536947" y="1882216"/>
            <a:chExt cx="8336474" cy="3961836"/>
          </a:xfrm>
        </p:grpSpPr>
        <p:sp>
          <p:nvSpPr>
            <p:cNvPr id="4" name="Rectangle 3"/>
            <p:cNvSpPr/>
            <p:nvPr/>
          </p:nvSpPr>
          <p:spPr>
            <a:xfrm>
              <a:off x="5075947" y="2255226"/>
              <a:ext cx="1294814"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
          <p:nvSpPr>
            <p:cNvPr id="5" name="Rectangle 4"/>
            <p:cNvSpPr/>
            <p:nvPr/>
          </p:nvSpPr>
          <p:spPr>
            <a:xfrm>
              <a:off x="6827277" y="2255226"/>
              <a:ext cx="1294814"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Application Server</a:t>
              </a:r>
            </a:p>
          </p:txBody>
        </p:sp>
        <p:sp>
          <p:nvSpPr>
            <p:cNvPr id="6" name="Rectangle 5"/>
            <p:cNvSpPr/>
            <p:nvPr/>
          </p:nvSpPr>
          <p:spPr>
            <a:xfrm>
              <a:off x="8578607" y="2255226"/>
              <a:ext cx="1294814"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Database</a:t>
              </a:r>
            </a:p>
          </p:txBody>
        </p:sp>
        <p:cxnSp>
          <p:nvCxnSpPr>
            <p:cNvPr id="7" name="Straight Connector 6"/>
            <p:cNvCxnSpPr>
              <a:endCxn id="4" idx="1"/>
            </p:cNvCxnSpPr>
            <p:nvPr/>
          </p:nvCxnSpPr>
          <p:spPr>
            <a:xfrm flipV="1">
              <a:off x="4702942" y="2598125"/>
              <a:ext cx="373007" cy="64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6" idx="1"/>
              <a:endCxn id="5" idx="3"/>
            </p:cNvCxnSpPr>
            <p:nvPr/>
          </p:nvCxnSpPr>
          <p:spPr>
            <a:xfrm flipH="1">
              <a:off x="8122091" y="2598125"/>
              <a:ext cx="4565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ame 8"/>
            <p:cNvSpPr/>
            <p:nvPr/>
          </p:nvSpPr>
          <p:spPr>
            <a:xfrm>
              <a:off x="3771466" y="2255226"/>
              <a:ext cx="930031" cy="3405947"/>
            </a:xfrm>
            <a:prstGeom prst="fram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cene3d>
                <a:camera prst="orthographicFront">
                  <a:rot lat="0" lon="0" rev="5400000"/>
                </a:camera>
                <a:lightRig rig="threePt" dir="t"/>
              </a:scene3d>
            </a:bodyPr>
            <a:lstStyle/>
            <a:p>
              <a:pPr algn="ctr"/>
              <a:r>
                <a:rPr lang="en-US" dirty="0">
                  <a:solidFill>
                    <a:schemeClr val="tx1"/>
                  </a:solidFill>
                </a:rPr>
                <a:t>LOAD BALANCED </a:t>
              </a:r>
            </a:p>
            <a:p>
              <a:pPr algn="ctr"/>
              <a:r>
                <a:rPr lang="en-US" dirty="0">
                  <a:solidFill>
                    <a:schemeClr val="tx1"/>
                  </a:solidFill>
                </a:rPr>
                <a:t>FIREWALL</a:t>
              </a:r>
            </a:p>
          </p:txBody>
        </p:sp>
        <p:cxnSp>
          <p:nvCxnSpPr>
            <p:cNvPr id="10" name="Straight Connector 9"/>
            <p:cNvCxnSpPr>
              <a:stCxn id="4" idx="3"/>
              <a:endCxn id="5" idx="1"/>
            </p:cNvCxnSpPr>
            <p:nvPr/>
          </p:nvCxnSpPr>
          <p:spPr>
            <a:xfrm>
              <a:off x="6370761" y="2598125"/>
              <a:ext cx="4565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536948" y="2458031"/>
              <a:ext cx="1294814" cy="7128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Clients</a:t>
              </a:r>
            </a:p>
          </p:txBody>
        </p:sp>
        <p:sp>
          <p:nvSpPr>
            <p:cNvPr id="12" name="Rectangle 11"/>
            <p:cNvSpPr/>
            <p:nvPr/>
          </p:nvSpPr>
          <p:spPr>
            <a:xfrm>
              <a:off x="1536948" y="4346035"/>
              <a:ext cx="1294814" cy="7128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Clients</a:t>
              </a:r>
            </a:p>
          </p:txBody>
        </p:sp>
        <p:sp>
          <p:nvSpPr>
            <p:cNvPr id="13" name="Rectangle 12"/>
            <p:cNvSpPr/>
            <p:nvPr/>
          </p:nvSpPr>
          <p:spPr>
            <a:xfrm>
              <a:off x="1536947" y="3320416"/>
              <a:ext cx="1294814" cy="7128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a:solidFill>
                    <a:schemeClr val="tx1"/>
                  </a:solidFill>
                </a:rPr>
                <a:t>. . .</a:t>
              </a:r>
            </a:p>
          </p:txBody>
        </p:sp>
        <p:cxnSp>
          <p:nvCxnSpPr>
            <p:cNvPr id="14" name="Straight Connector 13"/>
            <p:cNvCxnSpPr>
              <a:stCxn id="11" idx="3"/>
            </p:cNvCxnSpPr>
            <p:nvPr/>
          </p:nvCxnSpPr>
          <p:spPr>
            <a:xfrm flipV="1">
              <a:off x="2831762" y="2812718"/>
              <a:ext cx="939703" cy="1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831764" y="4710620"/>
              <a:ext cx="9397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5073796" y="3217602"/>
              <a:ext cx="1294814"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cxnSp>
          <p:nvCxnSpPr>
            <p:cNvPr id="17" name="Straight Connector 16"/>
            <p:cNvCxnSpPr/>
            <p:nvPr/>
          </p:nvCxnSpPr>
          <p:spPr>
            <a:xfrm>
              <a:off x="4701496" y="3560252"/>
              <a:ext cx="372300" cy="9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6" idx="3"/>
              <a:endCxn id="5" idx="1"/>
            </p:cNvCxnSpPr>
            <p:nvPr/>
          </p:nvCxnSpPr>
          <p:spPr>
            <a:xfrm flipV="1">
              <a:off x="6368610" y="2598126"/>
              <a:ext cx="458667" cy="9623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075947" y="4202305"/>
              <a:ext cx="1294814"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sp>
          <p:nvSpPr>
            <p:cNvPr id="20" name="Rectangle 19"/>
            <p:cNvSpPr/>
            <p:nvPr/>
          </p:nvSpPr>
          <p:spPr>
            <a:xfrm>
              <a:off x="6827277" y="4202305"/>
              <a:ext cx="1294814"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Application Server</a:t>
              </a:r>
            </a:p>
          </p:txBody>
        </p:sp>
        <p:cxnSp>
          <p:nvCxnSpPr>
            <p:cNvPr id="21" name="Straight Connector 20"/>
            <p:cNvCxnSpPr>
              <a:endCxn id="19" idx="1"/>
            </p:cNvCxnSpPr>
            <p:nvPr/>
          </p:nvCxnSpPr>
          <p:spPr>
            <a:xfrm>
              <a:off x="4701496" y="4545205"/>
              <a:ext cx="3744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6" idx="1"/>
              <a:endCxn id="20" idx="3"/>
            </p:cNvCxnSpPr>
            <p:nvPr/>
          </p:nvCxnSpPr>
          <p:spPr>
            <a:xfrm flipH="1">
              <a:off x="8122091" y="2598126"/>
              <a:ext cx="456516" cy="1947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9" idx="3"/>
              <a:endCxn id="20" idx="1"/>
            </p:cNvCxnSpPr>
            <p:nvPr/>
          </p:nvCxnSpPr>
          <p:spPr>
            <a:xfrm>
              <a:off x="6370762" y="4545205"/>
              <a:ext cx="4565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5075947" y="5158252"/>
              <a:ext cx="1294814"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Web Server</a:t>
              </a:r>
            </a:p>
          </p:txBody>
        </p:sp>
        <p:cxnSp>
          <p:nvCxnSpPr>
            <p:cNvPr id="25" name="Straight Connector 24"/>
            <p:cNvCxnSpPr>
              <a:endCxn id="24" idx="1"/>
            </p:cNvCxnSpPr>
            <p:nvPr/>
          </p:nvCxnSpPr>
          <p:spPr>
            <a:xfrm>
              <a:off x="4709014" y="5501152"/>
              <a:ext cx="3669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4" idx="3"/>
              <a:endCxn id="20" idx="1"/>
            </p:cNvCxnSpPr>
            <p:nvPr/>
          </p:nvCxnSpPr>
          <p:spPr>
            <a:xfrm flipV="1">
              <a:off x="6370761" y="4545205"/>
              <a:ext cx="456516" cy="9559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8700868" y="1882216"/>
              <a:ext cx="1106906" cy="323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Tier 3</a:t>
              </a:r>
            </a:p>
          </p:txBody>
        </p:sp>
        <p:sp>
          <p:nvSpPr>
            <p:cNvPr id="28" name="Rectangle 27"/>
            <p:cNvSpPr/>
            <p:nvPr/>
          </p:nvSpPr>
          <p:spPr>
            <a:xfrm>
              <a:off x="6928749" y="1882216"/>
              <a:ext cx="1106906" cy="323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Tier 2</a:t>
              </a:r>
            </a:p>
          </p:txBody>
        </p:sp>
        <p:sp>
          <p:nvSpPr>
            <p:cNvPr id="29" name="Rectangle 28"/>
            <p:cNvSpPr/>
            <p:nvPr/>
          </p:nvSpPr>
          <p:spPr>
            <a:xfrm>
              <a:off x="5177419" y="1882216"/>
              <a:ext cx="1106906" cy="323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Tier 1</a:t>
              </a:r>
            </a:p>
          </p:txBody>
        </p:sp>
        <p:sp>
          <p:nvSpPr>
            <p:cNvPr id="30" name="Rectangle 29"/>
            <p:cNvSpPr/>
            <p:nvPr/>
          </p:nvSpPr>
          <p:spPr>
            <a:xfrm>
              <a:off x="6834795" y="3146782"/>
              <a:ext cx="1294814" cy="7128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a:solidFill>
                    <a:schemeClr val="tx1"/>
                  </a:solidFill>
                </a:rPr>
                <a:t>. . .</a:t>
              </a:r>
            </a:p>
          </p:txBody>
        </p:sp>
        <p:sp>
          <p:nvSpPr>
            <p:cNvPr id="31" name="Rectangle 30"/>
            <p:cNvSpPr/>
            <p:nvPr/>
          </p:nvSpPr>
          <p:spPr>
            <a:xfrm>
              <a:off x="5550802" y="4801816"/>
              <a:ext cx="360139" cy="3564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a:solidFill>
                    <a:schemeClr val="tx1"/>
                  </a:solidFill>
                </a:rPr>
                <a:t>...</a:t>
              </a:r>
            </a:p>
          </p:txBody>
        </p:sp>
        <p:sp>
          <p:nvSpPr>
            <p:cNvPr id="32" name="Rectangle 31"/>
            <p:cNvSpPr/>
            <p:nvPr/>
          </p:nvSpPr>
          <p:spPr>
            <a:xfrm>
              <a:off x="5541133" y="2847153"/>
              <a:ext cx="360139" cy="3564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5400000"/>
                </a:camera>
                <a:lightRig rig="threePt" dir="t"/>
              </a:scene3d>
            </a:bodyPr>
            <a:lstStyle/>
            <a:p>
              <a:pPr algn="ctr"/>
              <a:r>
                <a:rPr lang="en-US" dirty="0">
                  <a:solidFill>
                    <a:schemeClr val="tx1"/>
                  </a:solidFill>
                </a:rPr>
                <a:t>...</a:t>
              </a:r>
            </a:p>
          </p:txBody>
        </p:sp>
      </p:grpSp>
      <p:sp>
        <p:nvSpPr>
          <p:cNvPr id="34" name="Title 1"/>
          <p:cNvSpPr txBox="1">
            <a:spLocks/>
          </p:cNvSpPr>
          <p:nvPr/>
        </p:nvSpPr>
        <p:spPr>
          <a:xfrm>
            <a:off x="759371" y="15229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Non-Natural Datasets – Process Metrics</a:t>
            </a:r>
          </a:p>
        </p:txBody>
      </p:sp>
    </p:spTree>
    <p:extLst>
      <p:ext uri="{BB962C8B-B14F-4D97-AF65-F5344CB8AC3E}">
        <p14:creationId xmlns:p14="http://schemas.microsoft.com/office/powerpoint/2010/main" val="1676476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37538" y="2697755"/>
            <a:ext cx="7397426" cy="3108543"/>
          </a:xfrm>
          <a:prstGeom prst="rect">
            <a:avLst/>
          </a:prstGeom>
        </p:spPr>
        <p:txBody>
          <a:bodyPr wrap="square">
            <a:spAutoFit/>
          </a:bodyPr>
          <a:lstStyle/>
          <a:p>
            <a:pPr marL="285750" indent="-285750">
              <a:buFontTx/>
              <a:buChar char="-"/>
            </a:pPr>
            <a:r>
              <a:rPr lang="en-US" sz="2800" dirty="0"/>
              <a:t>Samples taken every 10 second for 30 minutes.</a:t>
            </a:r>
          </a:p>
          <a:p>
            <a:pPr marL="285750" indent="-285750">
              <a:buFontTx/>
              <a:buChar char="-"/>
            </a:pPr>
            <a:endParaRPr lang="en-US" sz="2800" dirty="0"/>
          </a:p>
          <a:p>
            <a:pPr marL="285750" indent="-285750">
              <a:buFontTx/>
              <a:buChar char="-"/>
            </a:pPr>
            <a:r>
              <a:rPr lang="en-US" sz="2800" dirty="0"/>
              <a:t>15 minute mark malware is injected into an application server.  </a:t>
            </a:r>
          </a:p>
          <a:p>
            <a:pPr marL="285750" indent="-285750">
              <a:buFontTx/>
              <a:buChar char="-"/>
            </a:pPr>
            <a:endParaRPr lang="en-US" sz="2800" dirty="0"/>
          </a:p>
          <a:p>
            <a:pPr marL="285750" indent="-285750">
              <a:buFontTx/>
              <a:buChar char="-"/>
            </a:pPr>
            <a:r>
              <a:rPr lang="en-US" sz="2800" dirty="0"/>
              <a:t>Grids made of process metric time samples from infected VM, half labeled positive.</a:t>
            </a:r>
          </a:p>
        </p:txBody>
      </p:sp>
      <p:cxnSp>
        <p:nvCxnSpPr>
          <p:cNvPr id="7" name="Straight Connector 6"/>
          <p:cNvCxnSpPr/>
          <p:nvPr/>
        </p:nvCxnSpPr>
        <p:spPr>
          <a:xfrm flipV="1">
            <a:off x="676926" y="1947863"/>
            <a:ext cx="10810224" cy="1641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2634859" y="1437685"/>
            <a:ext cx="1437185" cy="369332"/>
          </a:xfrm>
          <a:prstGeom prst="rect">
            <a:avLst/>
          </a:prstGeom>
        </p:spPr>
        <p:txBody>
          <a:bodyPr wrap="square">
            <a:spAutoFit/>
          </a:bodyPr>
          <a:lstStyle/>
          <a:p>
            <a:r>
              <a:rPr lang="en-US" dirty="0"/>
              <a:t>Benign Phase</a:t>
            </a:r>
          </a:p>
        </p:txBody>
      </p:sp>
      <p:sp>
        <p:nvSpPr>
          <p:cNvPr id="12" name="Rectangle 11"/>
          <p:cNvSpPr/>
          <p:nvPr/>
        </p:nvSpPr>
        <p:spPr>
          <a:xfrm>
            <a:off x="8001652" y="1437685"/>
            <a:ext cx="1719136" cy="369332"/>
          </a:xfrm>
          <a:prstGeom prst="rect">
            <a:avLst/>
          </a:prstGeom>
        </p:spPr>
        <p:txBody>
          <a:bodyPr wrap="square">
            <a:spAutoFit/>
          </a:bodyPr>
          <a:lstStyle/>
          <a:p>
            <a:r>
              <a:rPr lang="en-US" dirty="0"/>
              <a:t>Malicious Phase</a:t>
            </a:r>
          </a:p>
        </p:txBody>
      </p:sp>
      <p:sp>
        <p:nvSpPr>
          <p:cNvPr id="13" name="Rectangle 12"/>
          <p:cNvSpPr/>
          <p:nvPr/>
        </p:nvSpPr>
        <p:spPr>
          <a:xfrm>
            <a:off x="4943292" y="2185639"/>
            <a:ext cx="2773443" cy="369332"/>
          </a:xfrm>
          <a:prstGeom prst="rect">
            <a:avLst/>
          </a:prstGeom>
        </p:spPr>
        <p:txBody>
          <a:bodyPr wrap="square">
            <a:spAutoFit/>
          </a:bodyPr>
          <a:lstStyle/>
          <a:p>
            <a:r>
              <a:rPr lang="en-US" dirty="0"/>
              <a:t>Inject and Execute Malware</a:t>
            </a:r>
          </a:p>
        </p:txBody>
      </p:sp>
      <p:cxnSp>
        <p:nvCxnSpPr>
          <p:cNvPr id="15" name="Straight Connector 14"/>
          <p:cNvCxnSpPr/>
          <p:nvPr/>
        </p:nvCxnSpPr>
        <p:spPr>
          <a:xfrm>
            <a:off x="676926"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848376"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01506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698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34843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51512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677051"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848501"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01518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17711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34856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51525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68193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85338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302007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18200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35345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520140"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368206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385351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02020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18212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435357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4520265"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658376"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4829826"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499651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515843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32988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49657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5658501"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829951"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599663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15856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6330013" y="1885692"/>
            <a:ext cx="1" cy="3264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649670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666338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83483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700152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716345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733490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501590"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766351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783496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800165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816357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833502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8501715"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8649351"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8820801"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898748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914941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932086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948755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9649476"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9820926"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998761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1014953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10320989"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1048767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065436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0825814"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0992502"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115442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1325877"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1492565" y="1885692"/>
            <a:ext cx="0" cy="1571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Title 1"/>
          <p:cNvSpPr txBox="1">
            <a:spLocks/>
          </p:cNvSpPr>
          <p:nvPr/>
        </p:nvSpPr>
        <p:spPr>
          <a:xfrm>
            <a:off x="759371" y="15229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Non-Natural Datasets – Process Metrics</a:t>
            </a:r>
          </a:p>
        </p:txBody>
      </p:sp>
      <p:pic>
        <p:nvPicPr>
          <p:cNvPr id="6" name="Picture 5"/>
          <p:cNvPicPr>
            <a:picLocks noChangeAspect="1"/>
          </p:cNvPicPr>
          <p:nvPr/>
        </p:nvPicPr>
        <p:blipFill>
          <a:blip r:embed="rId3"/>
          <a:stretch>
            <a:fillRect/>
          </a:stretch>
        </p:blipFill>
        <p:spPr>
          <a:xfrm>
            <a:off x="7310834" y="3209871"/>
            <a:ext cx="4353436" cy="2404514"/>
          </a:xfrm>
          <a:prstGeom prst="rect">
            <a:avLst/>
          </a:prstGeom>
        </p:spPr>
      </p:pic>
    </p:spTree>
    <p:extLst>
      <p:ext uri="{BB962C8B-B14F-4D97-AF65-F5344CB8AC3E}">
        <p14:creationId xmlns:p14="http://schemas.microsoft.com/office/powerpoint/2010/main" val="2119087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041" y="259219"/>
            <a:ext cx="9199103" cy="1325563"/>
          </a:xfrm>
        </p:spPr>
        <p:txBody>
          <a:bodyPr/>
          <a:lstStyle/>
          <a:p>
            <a:r>
              <a:rPr lang="en-US" dirty="0"/>
              <a:t>Stabilize Grid Ordering </a:t>
            </a:r>
            <a:r>
              <a:rPr lang="en-US" i="1" dirty="0"/>
              <a:t>(Process Rows)</a:t>
            </a:r>
          </a:p>
        </p:txBody>
      </p:sp>
      <p:sp>
        <p:nvSpPr>
          <p:cNvPr id="4" name="Rectangle 3"/>
          <p:cNvSpPr/>
          <p:nvPr/>
        </p:nvSpPr>
        <p:spPr>
          <a:xfrm>
            <a:off x="804041" y="1584782"/>
            <a:ext cx="10342447" cy="3416320"/>
          </a:xfrm>
          <a:prstGeom prst="rect">
            <a:avLst/>
          </a:prstGeom>
        </p:spPr>
        <p:txBody>
          <a:bodyPr wrap="square">
            <a:spAutoFit/>
          </a:bodyPr>
          <a:lstStyle/>
          <a:p>
            <a:pPr marL="457200" indent="-457200">
              <a:spcAft>
                <a:spcPts val="600"/>
              </a:spcAft>
              <a:buFont typeface="Arial" panose="020B0604020202020204" pitchFamily="34" charset="0"/>
              <a:buChar char="•"/>
            </a:pPr>
            <a:r>
              <a:rPr lang="en-US" sz="2800" dirty="0"/>
              <a:t>Needed to stabilize grid ordering between samples.</a:t>
            </a:r>
          </a:p>
          <a:p>
            <a:pPr marL="457200" indent="-457200">
              <a:spcAft>
                <a:spcPts val="600"/>
              </a:spcAft>
              <a:buFont typeface="Arial" panose="020B0604020202020204" pitchFamily="34" charset="0"/>
              <a:buChar char="•"/>
            </a:pPr>
            <a:r>
              <a:rPr lang="en-US" sz="2800" dirty="0"/>
              <a:t>Identified “Non-Unique” axis labels.</a:t>
            </a:r>
          </a:p>
          <a:p>
            <a:pPr marL="457200" indent="-457200">
              <a:spcAft>
                <a:spcPts val="600"/>
              </a:spcAft>
              <a:buFont typeface="Arial" panose="020B0604020202020204" pitchFamily="34" charset="0"/>
              <a:buChar char="•"/>
            </a:pPr>
            <a:r>
              <a:rPr lang="en-US" sz="2800" dirty="0"/>
              <a:t>Used these axis labels as the ordered group in front.</a:t>
            </a:r>
          </a:p>
          <a:p>
            <a:pPr marL="457200" indent="-457200">
              <a:spcAft>
                <a:spcPts val="600"/>
              </a:spcAft>
              <a:buFont typeface="Arial" panose="020B0604020202020204" pitchFamily="34" charset="0"/>
              <a:buChar char="•"/>
            </a:pPr>
            <a:r>
              <a:rPr lang="en-US" sz="2800" dirty="0"/>
              <a:t>“Non-Unique” axis labels missing in an experiment sample are padded with zeros.</a:t>
            </a:r>
          </a:p>
          <a:p>
            <a:pPr marL="457200" indent="-457200">
              <a:spcAft>
                <a:spcPts val="600"/>
              </a:spcAft>
              <a:buFont typeface="Arial" panose="020B0604020202020204" pitchFamily="34" charset="0"/>
              <a:buChar char="•"/>
            </a:pPr>
            <a:r>
              <a:rPr lang="en-US" sz="2800" dirty="0"/>
              <a:t>Empty slots for “Unique” axis labels are extra bottom rows, supplied with non-zero values as they appear.</a:t>
            </a:r>
          </a:p>
        </p:txBody>
      </p:sp>
    </p:spTree>
    <p:extLst>
      <p:ext uri="{BB962C8B-B14F-4D97-AF65-F5344CB8AC3E}">
        <p14:creationId xmlns:p14="http://schemas.microsoft.com/office/powerpoint/2010/main" val="3851069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624" y="547163"/>
            <a:ext cx="10754768" cy="727589"/>
          </a:xfrm>
        </p:spPr>
        <p:txBody>
          <a:bodyPr/>
          <a:lstStyle/>
          <a:p>
            <a:r>
              <a:rPr lang="en-US" dirty="0"/>
              <a:t>Ordering By Statistics – Independent Axis</a:t>
            </a:r>
          </a:p>
        </p:txBody>
      </p:sp>
      <p:sp>
        <p:nvSpPr>
          <p:cNvPr id="5" name="Rectangle 4"/>
          <p:cNvSpPr/>
          <p:nvPr/>
        </p:nvSpPr>
        <p:spPr>
          <a:xfrm>
            <a:off x="2298699" y="2752079"/>
            <a:ext cx="7870617" cy="523220"/>
          </a:xfrm>
          <a:prstGeom prst="rect">
            <a:avLst/>
          </a:prstGeom>
        </p:spPr>
        <p:txBody>
          <a:bodyPr wrap="none">
            <a:spAutoFit/>
          </a:bodyPr>
          <a:lstStyle/>
          <a:p>
            <a:pPr algn="ctr"/>
            <a:r>
              <a:rPr lang="en-US" sz="2800" dirty="0"/>
              <a:t>Statistical Correlation Function </a:t>
            </a:r>
            <a:r>
              <a:rPr lang="en-US" sz="2800" b="1" i="1" dirty="0"/>
              <a:t>per Metric/Byte Pair</a:t>
            </a:r>
            <a:r>
              <a:rPr lang="en-US" sz="2800" dirty="0"/>
              <a:t>:</a:t>
            </a:r>
          </a:p>
        </p:txBody>
      </p:sp>
      <p:sp>
        <p:nvSpPr>
          <p:cNvPr id="8" name="Rectangle 7"/>
          <p:cNvSpPr/>
          <p:nvPr/>
        </p:nvSpPr>
        <p:spPr>
          <a:xfrm>
            <a:off x="1254875" y="4749789"/>
            <a:ext cx="2695844" cy="523220"/>
          </a:xfrm>
          <a:prstGeom prst="rect">
            <a:avLst/>
          </a:prstGeom>
        </p:spPr>
        <p:txBody>
          <a:bodyPr wrap="square">
            <a:spAutoFit/>
          </a:bodyPr>
          <a:lstStyle/>
          <a:p>
            <a:pPr algn="ctr"/>
            <a:r>
              <a:rPr lang="en-US" sz="2800" dirty="0"/>
              <a:t>ABS-Correlation:</a:t>
            </a:r>
          </a:p>
        </p:txBody>
      </p:sp>
      <p:sp>
        <p:nvSpPr>
          <p:cNvPr id="9" name="Rectangle 8"/>
          <p:cNvSpPr/>
          <p:nvPr/>
        </p:nvSpPr>
        <p:spPr>
          <a:xfrm>
            <a:off x="4717260" y="4777367"/>
            <a:ext cx="2806485" cy="523220"/>
          </a:xfrm>
          <a:prstGeom prst="rect">
            <a:avLst/>
          </a:prstGeom>
        </p:spPr>
        <p:txBody>
          <a:bodyPr wrap="square">
            <a:spAutoFit/>
          </a:bodyPr>
          <a:lstStyle/>
          <a:p>
            <a:pPr algn="ctr"/>
            <a:r>
              <a:rPr lang="en-US" sz="2800" dirty="0"/>
              <a:t>Anti-Correlation:</a:t>
            </a:r>
          </a:p>
        </p:txBody>
      </p:sp>
      <p:sp>
        <p:nvSpPr>
          <p:cNvPr id="15" name="Rectangle 14"/>
          <p:cNvSpPr/>
          <p:nvPr/>
        </p:nvSpPr>
        <p:spPr>
          <a:xfrm>
            <a:off x="856624" y="1274752"/>
            <a:ext cx="7432353" cy="954107"/>
          </a:xfrm>
          <a:prstGeom prst="rect">
            <a:avLst/>
          </a:prstGeom>
        </p:spPr>
        <p:txBody>
          <a:bodyPr wrap="square">
            <a:spAutoFit/>
          </a:bodyPr>
          <a:lstStyle/>
          <a:p>
            <a:r>
              <a:rPr lang="en-US" sz="2800" dirty="0"/>
              <a:t>When all data points along the axis </a:t>
            </a:r>
            <a:r>
              <a:rPr lang="en-US" sz="2800" i="1" dirty="0"/>
              <a:t>(metric/byte) </a:t>
            </a:r>
            <a:r>
              <a:rPr lang="en-US" sz="2800" dirty="0"/>
              <a:t>are include in every sample.</a:t>
            </a:r>
          </a:p>
        </p:txBody>
      </p:sp>
      <p:pic>
        <p:nvPicPr>
          <p:cNvPr id="3" name="Picture 2"/>
          <p:cNvPicPr>
            <a:picLocks noChangeAspect="1"/>
          </p:cNvPicPr>
          <p:nvPr/>
        </p:nvPicPr>
        <p:blipFill>
          <a:blip r:embed="rId3"/>
          <a:stretch>
            <a:fillRect/>
          </a:stretch>
        </p:blipFill>
        <p:spPr>
          <a:xfrm>
            <a:off x="3142386" y="3303978"/>
            <a:ext cx="6008914" cy="922298"/>
          </a:xfrm>
          <a:prstGeom prst="rect">
            <a:avLst/>
          </a:prstGeom>
        </p:spPr>
      </p:pic>
      <p:pic>
        <p:nvPicPr>
          <p:cNvPr id="18" name="Picture 17"/>
          <p:cNvPicPr>
            <a:picLocks noChangeAspect="1"/>
          </p:cNvPicPr>
          <p:nvPr/>
        </p:nvPicPr>
        <p:blipFill>
          <a:blip r:embed="rId4"/>
          <a:stretch>
            <a:fillRect/>
          </a:stretch>
        </p:blipFill>
        <p:spPr>
          <a:xfrm>
            <a:off x="1448839" y="5273009"/>
            <a:ext cx="2307917" cy="325345"/>
          </a:xfrm>
          <a:prstGeom prst="rect">
            <a:avLst/>
          </a:prstGeom>
        </p:spPr>
      </p:pic>
      <p:sp>
        <p:nvSpPr>
          <p:cNvPr id="20" name="Rectangle 19"/>
          <p:cNvSpPr/>
          <p:nvPr/>
        </p:nvSpPr>
        <p:spPr>
          <a:xfrm>
            <a:off x="8631375" y="4507303"/>
            <a:ext cx="2844052" cy="523220"/>
          </a:xfrm>
          <a:prstGeom prst="rect">
            <a:avLst/>
          </a:prstGeom>
        </p:spPr>
        <p:txBody>
          <a:bodyPr wrap="square">
            <a:spAutoFit/>
          </a:bodyPr>
          <a:lstStyle/>
          <a:p>
            <a:pPr algn="ctr"/>
            <a:r>
              <a:rPr lang="en-US" sz="2800" dirty="0"/>
              <a:t>Total Correlation:</a:t>
            </a:r>
          </a:p>
        </p:txBody>
      </p:sp>
      <p:pic>
        <p:nvPicPr>
          <p:cNvPr id="21" name="Picture 20"/>
          <p:cNvPicPr>
            <a:picLocks noChangeAspect="1"/>
          </p:cNvPicPr>
          <p:nvPr/>
        </p:nvPicPr>
        <p:blipFill>
          <a:blip r:embed="rId5"/>
          <a:stretch>
            <a:fillRect/>
          </a:stretch>
        </p:blipFill>
        <p:spPr>
          <a:xfrm>
            <a:off x="4846587" y="5300587"/>
            <a:ext cx="2605456" cy="281027"/>
          </a:xfrm>
          <a:prstGeom prst="rect">
            <a:avLst/>
          </a:prstGeom>
        </p:spPr>
      </p:pic>
      <p:pic>
        <p:nvPicPr>
          <p:cNvPr id="22" name="Picture 21"/>
          <p:cNvPicPr>
            <a:picLocks noChangeAspect="1"/>
          </p:cNvPicPr>
          <p:nvPr/>
        </p:nvPicPr>
        <p:blipFill>
          <a:blip r:embed="rId6"/>
          <a:stretch>
            <a:fillRect/>
          </a:stretch>
        </p:blipFill>
        <p:spPr>
          <a:xfrm>
            <a:off x="8878167" y="4963454"/>
            <a:ext cx="2350467" cy="955294"/>
          </a:xfrm>
          <a:prstGeom prst="rect">
            <a:avLst/>
          </a:prstGeom>
        </p:spPr>
      </p:pic>
    </p:spTree>
    <p:extLst>
      <p:ext uri="{BB962C8B-B14F-4D97-AF65-F5344CB8AC3E}">
        <p14:creationId xmlns:p14="http://schemas.microsoft.com/office/powerpoint/2010/main" val="4186284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624" y="547163"/>
            <a:ext cx="10754768" cy="727589"/>
          </a:xfrm>
        </p:spPr>
        <p:txBody>
          <a:bodyPr/>
          <a:lstStyle/>
          <a:p>
            <a:r>
              <a:rPr lang="en-US" dirty="0"/>
              <a:t>Ordering By Statistics – Dependent Axis</a:t>
            </a:r>
          </a:p>
        </p:txBody>
      </p:sp>
      <p:sp>
        <p:nvSpPr>
          <p:cNvPr id="5" name="Rectangle 4"/>
          <p:cNvSpPr/>
          <p:nvPr/>
        </p:nvSpPr>
        <p:spPr>
          <a:xfrm>
            <a:off x="1430478" y="2443389"/>
            <a:ext cx="6029913" cy="954107"/>
          </a:xfrm>
          <a:prstGeom prst="rect">
            <a:avLst/>
          </a:prstGeom>
        </p:spPr>
        <p:txBody>
          <a:bodyPr wrap="square">
            <a:spAutoFit/>
          </a:bodyPr>
          <a:lstStyle/>
          <a:p>
            <a:pPr algn="ctr"/>
            <a:r>
              <a:rPr lang="en-US" sz="2800" dirty="0"/>
              <a:t>Statistical Correlation </a:t>
            </a:r>
            <a:r>
              <a:rPr lang="en-US" sz="2800" b="1" i="1" dirty="0"/>
              <a:t>per Process Pair for every Metric</a:t>
            </a:r>
            <a:r>
              <a:rPr lang="en-US" sz="2800" dirty="0"/>
              <a:t>:</a:t>
            </a:r>
          </a:p>
        </p:txBody>
      </p:sp>
      <p:sp>
        <p:nvSpPr>
          <p:cNvPr id="8" name="Rectangle 7"/>
          <p:cNvSpPr/>
          <p:nvPr/>
        </p:nvSpPr>
        <p:spPr>
          <a:xfrm>
            <a:off x="1390840" y="4711644"/>
            <a:ext cx="2695844" cy="954107"/>
          </a:xfrm>
          <a:prstGeom prst="rect">
            <a:avLst/>
          </a:prstGeom>
        </p:spPr>
        <p:txBody>
          <a:bodyPr wrap="square">
            <a:spAutoFit/>
          </a:bodyPr>
          <a:lstStyle/>
          <a:p>
            <a:pPr algn="ctr"/>
            <a:r>
              <a:rPr lang="en-US" sz="2800" dirty="0"/>
              <a:t>ABS-Correlation Sum:</a:t>
            </a:r>
          </a:p>
        </p:txBody>
      </p:sp>
      <p:sp>
        <p:nvSpPr>
          <p:cNvPr id="9" name="Rectangle 8"/>
          <p:cNvSpPr/>
          <p:nvPr/>
        </p:nvSpPr>
        <p:spPr>
          <a:xfrm>
            <a:off x="4827878" y="4711643"/>
            <a:ext cx="2806485" cy="954107"/>
          </a:xfrm>
          <a:prstGeom prst="rect">
            <a:avLst/>
          </a:prstGeom>
        </p:spPr>
        <p:txBody>
          <a:bodyPr wrap="square">
            <a:spAutoFit/>
          </a:bodyPr>
          <a:lstStyle/>
          <a:p>
            <a:pPr algn="ctr"/>
            <a:r>
              <a:rPr lang="en-US" sz="2800" dirty="0"/>
              <a:t>Anti-Correlation Sum:</a:t>
            </a:r>
          </a:p>
        </p:txBody>
      </p:sp>
      <p:sp>
        <p:nvSpPr>
          <p:cNvPr id="15" name="Rectangle 14"/>
          <p:cNvSpPr/>
          <p:nvPr/>
        </p:nvSpPr>
        <p:spPr>
          <a:xfrm>
            <a:off x="856624" y="1274752"/>
            <a:ext cx="7432353" cy="954107"/>
          </a:xfrm>
          <a:prstGeom prst="rect">
            <a:avLst/>
          </a:prstGeom>
        </p:spPr>
        <p:txBody>
          <a:bodyPr wrap="square">
            <a:spAutoFit/>
          </a:bodyPr>
          <a:lstStyle/>
          <a:p>
            <a:r>
              <a:rPr lang="en-US" sz="2800" dirty="0"/>
              <a:t>When one data points along the axis </a:t>
            </a:r>
            <a:r>
              <a:rPr lang="en-US" sz="2800" i="1" dirty="0"/>
              <a:t>(process) </a:t>
            </a:r>
            <a:r>
              <a:rPr lang="en-US" sz="2800" dirty="0"/>
              <a:t>are include in every sample.</a:t>
            </a:r>
          </a:p>
        </p:txBody>
      </p:sp>
      <p:sp>
        <p:nvSpPr>
          <p:cNvPr id="20" name="Rectangle 19"/>
          <p:cNvSpPr/>
          <p:nvPr/>
        </p:nvSpPr>
        <p:spPr>
          <a:xfrm>
            <a:off x="8426251" y="4711645"/>
            <a:ext cx="2844052" cy="954107"/>
          </a:xfrm>
          <a:prstGeom prst="rect">
            <a:avLst/>
          </a:prstGeom>
        </p:spPr>
        <p:txBody>
          <a:bodyPr wrap="square">
            <a:spAutoFit/>
          </a:bodyPr>
          <a:lstStyle/>
          <a:p>
            <a:pPr algn="ctr"/>
            <a:r>
              <a:rPr lang="en-US" sz="2800" dirty="0"/>
              <a:t>Total Correlation Sum:</a:t>
            </a:r>
          </a:p>
        </p:txBody>
      </p:sp>
      <p:pic>
        <p:nvPicPr>
          <p:cNvPr id="12" name="Picture 11"/>
          <p:cNvPicPr>
            <a:picLocks noChangeAspect="1"/>
          </p:cNvPicPr>
          <p:nvPr/>
        </p:nvPicPr>
        <p:blipFill>
          <a:blip r:embed="rId3"/>
          <a:stretch>
            <a:fillRect/>
          </a:stretch>
        </p:blipFill>
        <p:spPr>
          <a:xfrm>
            <a:off x="856624" y="3397496"/>
            <a:ext cx="7177622" cy="901398"/>
          </a:xfrm>
          <a:prstGeom prst="rect">
            <a:avLst/>
          </a:prstGeom>
        </p:spPr>
      </p:pic>
      <p:sp>
        <p:nvSpPr>
          <p:cNvPr id="13" name="Rectangle 12"/>
          <p:cNvSpPr/>
          <p:nvPr/>
        </p:nvSpPr>
        <p:spPr>
          <a:xfrm>
            <a:off x="8088472" y="2479394"/>
            <a:ext cx="3522920" cy="954107"/>
          </a:xfrm>
          <a:prstGeom prst="rect">
            <a:avLst/>
          </a:prstGeom>
        </p:spPr>
        <p:txBody>
          <a:bodyPr wrap="square">
            <a:spAutoFit/>
          </a:bodyPr>
          <a:lstStyle/>
          <a:p>
            <a:pPr algn="ctr"/>
            <a:r>
              <a:rPr lang="en-US" sz="2800" dirty="0"/>
              <a:t>Correlated Sum Function:</a:t>
            </a:r>
          </a:p>
        </p:txBody>
      </p:sp>
      <p:pic>
        <p:nvPicPr>
          <p:cNvPr id="14" name="Picture 13"/>
          <p:cNvPicPr>
            <a:picLocks noChangeAspect="1"/>
          </p:cNvPicPr>
          <p:nvPr/>
        </p:nvPicPr>
        <p:blipFill>
          <a:blip r:embed="rId4"/>
          <a:stretch>
            <a:fillRect/>
          </a:stretch>
        </p:blipFill>
        <p:spPr>
          <a:xfrm>
            <a:off x="8728144" y="3397496"/>
            <a:ext cx="2243576" cy="695551"/>
          </a:xfrm>
          <a:prstGeom prst="rect">
            <a:avLst/>
          </a:prstGeom>
        </p:spPr>
      </p:pic>
      <p:pic>
        <p:nvPicPr>
          <p:cNvPr id="16" name="Picture 15"/>
          <p:cNvPicPr>
            <a:picLocks noChangeAspect="1"/>
          </p:cNvPicPr>
          <p:nvPr/>
        </p:nvPicPr>
        <p:blipFill>
          <a:blip r:embed="rId5"/>
          <a:stretch>
            <a:fillRect/>
          </a:stretch>
        </p:blipFill>
        <p:spPr>
          <a:xfrm>
            <a:off x="1169645" y="5796133"/>
            <a:ext cx="2703882" cy="334557"/>
          </a:xfrm>
          <a:prstGeom prst="rect">
            <a:avLst/>
          </a:prstGeom>
        </p:spPr>
      </p:pic>
      <p:pic>
        <p:nvPicPr>
          <p:cNvPr id="17" name="Picture 16"/>
          <p:cNvPicPr>
            <a:picLocks noChangeAspect="1"/>
          </p:cNvPicPr>
          <p:nvPr/>
        </p:nvPicPr>
        <p:blipFill>
          <a:blip r:embed="rId6"/>
          <a:stretch>
            <a:fillRect/>
          </a:stretch>
        </p:blipFill>
        <p:spPr>
          <a:xfrm>
            <a:off x="4573620" y="5801672"/>
            <a:ext cx="3365694" cy="329018"/>
          </a:xfrm>
          <a:prstGeom prst="rect">
            <a:avLst/>
          </a:prstGeom>
        </p:spPr>
      </p:pic>
      <p:pic>
        <p:nvPicPr>
          <p:cNvPr id="19" name="Picture 18"/>
          <p:cNvPicPr>
            <a:picLocks noChangeAspect="1"/>
          </p:cNvPicPr>
          <p:nvPr/>
        </p:nvPicPr>
        <p:blipFill>
          <a:blip r:embed="rId7"/>
          <a:stretch>
            <a:fillRect/>
          </a:stretch>
        </p:blipFill>
        <p:spPr>
          <a:xfrm>
            <a:off x="8621422" y="5602669"/>
            <a:ext cx="2453710" cy="727025"/>
          </a:xfrm>
          <a:prstGeom prst="rect">
            <a:avLst/>
          </a:prstGeom>
        </p:spPr>
      </p:pic>
    </p:spTree>
    <p:extLst>
      <p:ext uri="{BB962C8B-B14F-4D97-AF65-F5344CB8AC3E}">
        <p14:creationId xmlns:p14="http://schemas.microsoft.com/office/powerpoint/2010/main" val="3407123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155285" y="588173"/>
            <a:ext cx="7183953" cy="5717840"/>
          </a:xfrm>
          <a:prstGeom prst="rect">
            <a:avLst/>
          </a:prstGeom>
        </p:spPr>
      </p:pic>
      <p:sp>
        <p:nvSpPr>
          <p:cNvPr id="5" name="Title 2"/>
          <p:cNvSpPr>
            <a:spLocks noGrp="1"/>
          </p:cNvSpPr>
          <p:nvPr>
            <p:ph type="title"/>
          </p:nvPr>
        </p:nvSpPr>
        <p:spPr>
          <a:xfrm>
            <a:off x="582169" y="588173"/>
            <a:ext cx="2563368" cy="1325563"/>
          </a:xfrm>
        </p:spPr>
        <p:txBody>
          <a:bodyPr>
            <a:normAutofit/>
          </a:bodyPr>
          <a:lstStyle/>
          <a:p>
            <a:r>
              <a:rPr lang="en-US" dirty="0"/>
              <a:t>Ordering Algorithm:</a:t>
            </a:r>
          </a:p>
        </p:txBody>
      </p:sp>
      <p:sp>
        <p:nvSpPr>
          <p:cNvPr id="6" name="Rectangle 5"/>
          <p:cNvSpPr/>
          <p:nvPr/>
        </p:nvSpPr>
        <p:spPr>
          <a:xfrm>
            <a:off x="582169" y="2285146"/>
            <a:ext cx="3573116" cy="1815882"/>
          </a:xfrm>
          <a:prstGeom prst="rect">
            <a:avLst/>
          </a:prstGeom>
        </p:spPr>
        <p:txBody>
          <a:bodyPr wrap="square">
            <a:spAutoFit/>
          </a:bodyPr>
          <a:lstStyle/>
          <a:p>
            <a:r>
              <a:rPr lang="en-US" sz="2800" dirty="0"/>
              <a:t>Axis Feature: f</a:t>
            </a:r>
            <a:r>
              <a:rPr lang="en-US" sz="2800" baseline="-25000" dirty="0"/>
              <a:t>i</a:t>
            </a:r>
            <a:r>
              <a:rPr lang="en-US" sz="2800" dirty="0"/>
              <a:t> </a:t>
            </a:r>
          </a:p>
          <a:p>
            <a:pPr marL="457200" indent="-457200">
              <a:buFontTx/>
              <a:buChar char="-"/>
            </a:pPr>
            <a:r>
              <a:rPr lang="en-US" sz="2800" dirty="0"/>
              <a:t>Metric axis: m</a:t>
            </a:r>
            <a:r>
              <a:rPr lang="en-US" sz="2800" baseline="-25000" dirty="0"/>
              <a:t>i</a:t>
            </a:r>
            <a:r>
              <a:rPr lang="en-US" sz="2800" dirty="0"/>
              <a:t> </a:t>
            </a:r>
          </a:p>
          <a:p>
            <a:pPr marL="457200" indent="-457200">
              <a:buFontTx/>
              <a:buChar char="-"/>
            </a:pPr>
            <a:r>
              <a:rPr lang="en-US" sz="2800" dirty="0"/>
              <a:t>Process axis: p</a:t>
            </a:r>
            <a:r>
              <a:rPr lang="en-US" sz="2800" baseline="-25000" dirty="0"/>
              <a:t>i</a:t>
            </a:r>
            <a:endParaRPr lang="en-US" sz="2800" dirty="0"/>
          </a:p>
          <a:p>
            <a:pPr marL="457200" indent="-457200">
              <a:buFontTx/>
              <a:buChar char="-"/>
            </a:pPr>
            <a:r>
              <a:rPr lang="en-US" sz="2800" dirty="0"/>
              <a:t>Byte axis: b</a:t>
            </a:r>
            <a:r>
              <a:rPr lang="en-US" sz="2800" baseline="-25000" dirty="0"/>
              <a:t>i</a:t>
            </a:r>
            <a:endParaRPr lang="en-US" sz="2800" dirty="0"/>
          </a:p>
        </p:txBody>
      </p:sp>
      <p:sp>
        <p:nvSpPr>
          <p:cNvPr id="7" name="Rectangle 6"/>
          <p:cNvSpPr/>
          <p:nvPr/>
        </p:nvSpPr>
        <p:spPr>
          <a:xfrm>
            <a:off x="582169" y="4164156"/>
            <a:ext cx="3573116" cy="1815882"/>
          </a:xfrm>
          <a:prstGeom prst="rect">
            <a:avLst/>
          </a:prstGeom>
        </p:spPr>
        <p:txBody>
          <a:bodyPr wrap="square">
            <a:spAutoFit/>
          </a:bodyPr>
          <a:lstStyle/>
          <a:p>
            <a:r>
              <a:rPr lang="en-US" sz="2800" dirty="0"/>
              <a:t>Function: </a:t>
            </a:r>
            <a:r>
              <a:rPr lang="en-US" sz="2800" dirty="0" err="1"/>
              <a:t>ρ</a:t>
            </a:r>
            <a:r>
              <a:rPr lang="en-US" sz="2800" baseline="-25000" dirty="0" err="1"/>
              <a:t>fifj</a:t>
            </a:r>
            <a:endParaRPr lang="en-US" sz="2800" dirty="0"/>
          </a:p>
          <a:p>
            <a:pPr marL="457200" indent="-457200">
              <a:buFontTx/>
              <a:buChar char="-"/>
            </a:pPr>
            <a:r>
              <a:rPr lang="en-US" sz="2800" dirty="0"/>
              <a:t>Per feature pair: f</a:t>
            </a:r>
            <a:r>
              <a:rPr lang="en-US" sz="2800" baseline="-25000" dirty="0"/>
              <a:t>i</a:t>
            </a:r>
            <a:r>
              <a:rPr lang="en-US" sz="2800" dirty="0"/>
              <a:t> f</a:t>
            </a:r>
            <a:r>
              <a:rPr lang="en-US" sz="2800" baseline="-25000" dirty="0"/>
              <a:t>j</a:t>
            </a:r>
            <a:endParaRPr lang="en-US" sz="2800" dirty="0"/>
          </a:p>
          <a:p>
            <a:pPr marL="457200" indent="-457200">
              <a:buFontTx/>
              <a:buChar char="-"/>
            </a:pPr>
            <a:r>
              <a:rPr lang="en-US" sz="2800" dirty="0"/>
              <a:t>Independent of other axis feature</a:t>
            </a:r>
          </a:p>
        </p:txBody>
      </p:sp>
    </p:spTree>
    <p:extLst>
      <p:ext uri="{BB962C8B-B14F-4D97-AF65-F5344CB8AC3E}">
        <p14:creationId xmlns:p14="http://schemas.microsoft.com/office/powerpoint/2010/main" val="1206365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82169" y="587494"/>
            <a:ext cx="2563368" cy="1325563"/>
          </a:xfrm>
        </p:spPr>
        <p:txBody>
          <a:bodyPr/>
          <a:lstStyle/>
          <a:p>
            <a:r>
              <a:rPr lang="en-US" dirty="0"/>
              <a:t>Visual Example:</a:t>
            </a:r>
          </a:p>
        </p:txBody>
      </p:sp>
      <p:pic>
        <p:nvPicPr>
          <p:cNvPr id="10" name="Picture 9"/>
          <p:cNvPicPr>
            <a:picLocks noChangeAspect="1"/>
          </p:cNvPicPr>
          <p:nvPr/>
        </p:nvPicPr>
        <p:blipFill>
          <a:blip r:embed="rId3"/>
          <a:stretch>
            <a:fillRect/>
          </a:stretch>
        </p:blipFill>
        <p:spPr>
          <a:xfrm>
            <a:off x="4901185" y="349750"/>
            <a:ext cx="6801799" cy="2823604"/>
          </a:xfrm>
          <a:prstGeom prst="rect">
            <a:avLst/>
          </a:prstGeom>
        </p:spPr>
      </p:pic>
      <p:sp>
        <p:nvSpPr>
          <p:cNvPr id="12" name="Rectangle 11"/>
          <p:cNvSpPr/>
          <p:nvPr/>
        </p:nvSpPr>
        <p:spPr>
          <a:xfrm>
            <a:off x="2980944" y="1161387"/>
            <a:ext cx="1737360" cy="1200329"/>
          </a:xfrm>
          <a:prstGeom prst="rect">
            <a:avLst/>
          </a:prstGeom>
        </p:spPr>
        <p:txBody>
          <a:bodyPr wrap="square">
            <a:spAutoFit/>
          </a:bodyPr>
          <a:lstStyle/>
          <a:p>
            <a:pPr algn="r"/>
            <a:r>
              <a:rPr lang="en-US" sz="2400" dirty="0"/>
              <a:t>Correlated Rows and Columns</a:t>
            </a:r>
          </a:p>
        </p:txBody>
      </p:sp>
      <p:sp>
        <p:nvSpPr>
          <p:cNvPr id="13" name="Rectangle 12"/>
          <p:cNvSpPr/>
          <p:nvPr/>
        </p:nvSpPr>
        <p:spPr>
          <a:xfrm>
            <a:off x="582169" y="2285146"/>
            <a:ext cx="2398775" cy="1815882"/>
          </a:xfrm>
          <a:prstGeom prst="rect">
            <a:avLst/>
          </a:prstGeom>
        </p:spPr>
        <p:txBody>
          <a:bodyPr wrap="square">
            <a:spAutoFit/>
          </a:bodyPr>
          <a:lstStyle/>
          <a:p>
            <a:r>
              <a:rPr lang="en-US" sz="2800" dirty="0"/>
              <a:t>Plots of Process/Metric Matrices with 3-wide Entropy</a:t>
            </a:r>
          </a:p>
        </p:txBody>
      </p:sp>
      <p:pic>
        <p:nvPicPr>
          <p:cNvPr id="14" name="Picture 13"/>
          <p:cNvPicPr>
            <a:picLocks noChangeAspect="1"/>
          </p:cNvPicPr>
          <p:nvPr/>
        </p:nvPicPr>
        <p:blipFill>
          <a:blip r:embed="rId4"/>
          <a:stretch>
            <a:fillRect/>
          </a:stretch>
        </p:blipFill>
        <p:spPr>
          <a:xfrm>
            <a:off x="4916427" y="3806171"/>
            <a:ext cx="6786557" cy="2796930"/>
          </a:xfrm>
          <a:prstGeom prst="rect">
            <a:avLst/>
          </a:prstGeom>
        </p:spPr>
      </p:pic>
      <p:sp>
        <p:nvSpPr>
          <p:cNvPr id="15" name="Rectangle 14"/>
          <p:cNvSpPr/>
          <p:nvPr/>
        </p:nvSpPr>
        <p:spPr>
          <a:xfrm>
            <a:off x="2301238" y="4604471"/>
            <a:ext cx="2417066" cy="1200329"/>
          </a:xfrm>
          <a:prstGeom prst="rect">
            <a:avLst/>
          </a:prstGeom>
        </p:spPr>
        <p:txBody>
          <a:bodyPr wrap="square">
            <a:spAutoFit/>
          </a:bodyPr>
          <a:lstStyle/>
          <a:p>
            <a:pPr algn="r"/>
            <a:r>
              <a:rPr lang="en-US" sz="2400" dirty="0"/>
              <a:t>Anti-Correlated Rows and Columns</a:t>
            </a:r>
          </a:p>
        </p:txBody>
      </p:sp>
      <p:sp>
        <p:nvSpPr>
          <p:cNvPr id="16" name="Rectangle 15"/>
          <p:cNvSpPr/>
          <p:nvPr/>
        </p:nvSpPr>
        <p:spPr>
          <a:xfrm>
            <a:off x="5696331" y="3236854"/>
            <a:ext cx="1737360" cy="523220"/>
          </a:xfrm>
          <a:prstGeom prst="rect">
            <a:avLst/>
          </a:prstGeom>
        </p:spPr>
        <p:txBody>
          <a:bodyPr wrap="square">
            <a:spAutoFit/>
          </a:bodyPr>
          <a:lstStyle/>
          <a:p>
            <a:pPr algn="ctr"/>
            <a:r>
              <a:rPr lang="en-US" sz="2800" dirty="0"/>
              <a:t>Benign</a:t>
            </a:r>
          </a:p>
        </p:txBody>
      </p:sp>
      <p:sp>
        <p:nvSpPr>
          <p:cNvPr id="17" name="Rectangle 16"/>
          <p:cNvSpPr/>
          <p:nvPr/>
        </p:nvSpPr>
        <p:spPr>
          <a:xfrm>
            <a:off x="9299448" y="3228152"/>
            <a:ext cx="1737360" cy="523220"/>
          </a:xfrm>
          <a:prstGeom prst="rect">
            <a:avLst/>
          </a:prstGeom>
        </p:spPr>
        <p:txBody>
          <a:bodyPr wrap="square">
            <a:spAutoFit/>
          </a:bodyPr>
          <a:lstStyle/>
          <a:p>
            <a:pPr algn="ctr"/>
            <a:r>
              <a:rPr lang="en-US" sz="2800" dirty="0"/>
              <a:t>Infected</a:t>
            </a:r>
          </a:p>
        </p:txBody>
      </p:sp>
    </p:spTree>
    <p:extLst>
      <p:ext uri="{BB962C8B-B14F-4D97-AF65-F5344CB8AC3E}">
        <p14:creationId xmlns:p14="http://schemas.microsoft.com/office/powerpoint/2010/main" val="4144707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CNN Models Analyzed:</a:t>
            </a:r>
          </a:p>
        </p:txBody>
      </p:sp>
      <p:graphicFrame>
        <p:nvGraphicFramePr>
          <p:cNvPr id="3" name="Object 2"/>
          <p:cNvGraphicFramePr>
            <a:graphicFrameLocks noChangeAspect="1"/>
          </p:cNvGraphicFramePr>
          <p:nvPr>
            <p:extLst>
              <p:ext uri="{D42A27DB-BD31-4B8C-83A1-F6EECF244321}">
                <p14:modId xmlns:p14="http://schemas.microsoft.com/office/powerpoint/2010/main" val="2625179818"/>
              </p:ext>
            </p:extLst>
          </p:nvPr>
        </p:nvGraphicFramePr>
        <p:xfrm>
          <a:off x="3238500" y="1803400"/>
          <a:ext cx="5715000" cy="3248025"/>
        </p:xfrm>
        <a:graphic>
          <a:graphicData uri="http://schemas.openxmlformats.org/presentationml/2006/ole">
            <mc:AlternateContent xmlns:mc="http://schemas.openxmlformats.org/markup-compatibility/2006">
              <mc:Choice xmlns:v="urn:schemas-microsoft-com:vml" Requires="v">
                <p:oleObj name="Worksheet" r:id="rId3" imgW="5715086" imgH="3248183" progId="Excel.Sheet.12">
                  <p:embed/>
                </p:oleObj>
              </mc:Choice>
              <mc:Fallback>
                <p:oleObj name="Worksheet" r:id="rId3" imgW="5715086" imgH="3248183" progId="Excel.Sheet.12">
                  <p:embed/>
                  <p:pic>
                    <p:nvPicPr>
                      <p:cNvPr id="0" name=""/>
                      <p:cNvPicPr/>
                      <p:nvPr/>
                    </p:nvPicPr>
                    <p:blipFill>
                      <a:blip r:embed="rId4"/>
                      <a:stretch>
                        <a:fillRect/>
                      </a:stretch>
                    </p:blipFill>
                    <p:spPr>
                      <a:xfrm>
                        <a:off x="3238500" y="1803400"/>
                        <a:ext cx="5715000" cy="3248025"/>
                      </a:xfrm>
                      <a:prstGeom prst="rect">
                        <a:avLst/>
                      </a:prstGeom>
                    </p:spPr>
                  </p:pic>
                </p:oleObj>
              </mc:Fallback>
            </mc:AlternateContent>
          </a:graphicData>
        </a:graphic>
      </p:graphicFrame>
    </p:spTree>
    <p:extLst>
      <p:ext uri="{BB962C8B-B14F-4D97-AF65-F5344CB8AC3E}">
        <p14:creationId xmlns:p14="http://schemas.microsoft.com/office/powerpoint/2010/main" val="2740831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Lenet-5 </a:t>
            </a:r>
            <a:r>
              <a:rPr lang="en-US" i="1" dirty="0"/>
              <a:t>(20 epoch)</a:t>
            </a:r>
            <a:r>
              <a:rPr lang="en-US" dirty="0"/>
              <a:t>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Column Ordering Options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811" y="1784578"/>
            <a:ext cx="4037998" cy="3028499"/>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2906" y="1784577"/>
            <a:ext cx="4037998" cy="3028499"/>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54001" y="1784578"/>
            <a:ext cx="4037998" cy="3028499"/>
          </a:xfrm>
          <a:prstGeom prst="rect">
            <a:avLst/>
          </a:prstGeom>
        </p:spPr>
      </p:pic>
    </p:spTree>
    <p:extLst>
      <p:ext uri="{BB962C8B-B14F-4D97-AF65-F5344CB8AC3E}">
        <p14:creationId xmlns:p14="http://schemas.microsoft.com/office/powerpoint/2010/main" val="3778551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Lenet-5 </a:t>
            </a:r>
            <a:r>
              <a:rPr lang="en-US" i="1" dirty="0"/>
              <a:t>(20 epoch) </a:t>
            </a:r>
            <a:r>
              <a:rPr lang="en-US" dirty="0"/>
              <a:t>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Row Ordering Options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811" y="1784578"/>
            <a:ext cx="4037998" cy="3028498"/>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2906" y="1784577"/>
            <a:ext cx="4037998" cy="3028498"/>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54001" y="1784578"/>
            <a:ext cx="4037998" cy="3028498"/>
          </a:xfrm>
          <a:prstGeom prst="rect">
            <a:avLst/>
          </a:prstGeom>
        </p:spPr>
      </p:pic>
    </p:spTree>
    <p:extLst>
      <p:ext uri="{BB962C8B-B14F-4D97-AF65-F5344CB8AC3E}">
        <p14:creationId xmlns:p14="http://schemas.microsoft.com/office/powerpoint/2010/main" val="1858090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Inception-V3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Column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9" cy="3028499"/>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9" cy="3028499"/>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9" cy="3028499"/>
          </a:xfrm>
          <a:prstGeom prst="rect">
            <a:avLst/>
          </a:prstGeom>
        </p:spPr>
      </p:pic>
    </p:spTree>
    <p:extLst>
      <p:ext uri="{BB962C8B-B14F-4D97-AF65-F5344CB8AC3E}">
        <p14:creationId xmlns:p14="http://schemas.microsoft.com/office/powerpoint/2010/main" val="4199117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Inception-V3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Row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8" cy="3028499"/>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8" cy="3028499"/>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8" cy="3028499"/>
          </a:xfrm>
          <a:prstGeom prst="rect">
            <a:avLst/>
          </a:prstGeom>
        </p:spPr>
      </p:pic>
    </p:spTree>
    <p:extLst>
      <p:ext uri="{BB962C8B-B14F-4D97-AF65-F5344CB8AC3E}">
        <p14:creationId xmlns:p14="http://schemas.microsoft.com/office/powerpoint/2010/main" val="1740743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RESNET-18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Column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8" cy="3028499"/>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8" cy="3028499"/>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8" cy="3028499"/>
          </a:xfrm>
          <a:prstGeom prst="rect">
            <a:avLst/>
          </a:prstGeom>
        </p:spPr>
      </p:pic>
    </p:spTree>
    <p:extLst>
      <p:ext uri="{BB962C8B-B14F-4D97-AF65-F5344CB8AC3E}">
        <p14:creationId xmlns:p14="http://schemas.microsoft.com/office/powerpoint/2010/main" val="1394866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RESNET-18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Row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8" cy="3028498"/>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8" cy="302849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8" cy="3028498"/>
          </a:xfrm>
          <a:prstGeom prst="rect">
            <a:avLst/>
          </a:prstGeom>
        </p:spPr>
      </p:pic>
    </p:spTree>
    <p:extLst>
      <p:ext uri="{BB962C8B-B14F-4D97-AF65-F5344CB8AC3E}">
        <p14:creationId xmlns:p14="http://schemas.microsoft.com/office/powerpoint/2010/main" val="3725543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a:t>
            </a:r>
            <a:r>
              <a:rPr lang="en-US" dirty="0" err="1"/>
              <a:t>Xception</a:t>
            </a:r>
            <a:r>
              <a:rPr lang="en-US" dirty="0"/>
              <a:t>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Column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8" cy="3028499"/>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8" cy="3028499"/>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8" cy="3028499"/>
          </a:xfrm>
          <a:prstGeom prst="rect">
            <a:avLst/>
          </a:prstGeom>
        </p:spPr>
      </p:pic>
    </p:spTree>
    <p:extLst>
      <p:ext uri="{BB962C8B-B14F-4D97-AF65-F5344CB8AC3E}">
        <p14:creationId xmlns:p14="http://schemas.microsoft.com/office/powerpoint/2010/main" val="2673690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a:t>
            </a:r>
            <a:r>
              <a:rPr lang="en-US" dirty="0" err="1"/>
              <a:t>Xception</a:t>
            </a:r>
            <a:r>
              <a:rPr lang="en-US" dirty="0"/>
              <a:t>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Row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8" cy="3028498"/>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8" cy="302849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8" cy="3028498"/>
          </a:xfrm>
          <a:prstGeom prst="rect">
            <a:avLst/>
          </a:prstGeom>
        </p:spPr>
      </p:pic>
    </p:spTree>
    <p:extLst>
      <p:ext uri="{BB962C8B-B14F-4D97-AF65-F5344CB8AC3E}">
        <p14:creationId xmlns:p14="http://schemas.microsoft.com/office/powerpoint/2010/main" val="4095934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a:t>
            </a:r>
            <a:r>
              <a:rPr lang="en-US" dirty="0" err="1"/>
              <a:t>MobileNet</a:t>
            </a:r>
            <a:r>
              <a:rPr lang="en-US" dirty="0"/>
              <a:t>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Column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8" cy="3028498"/>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8" cy="302849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8" cy="3028498"/>
          </a:xfrm>
          <a:prstGeom prst="rect">
            <a:avLst/>
          </a:prstGeom>
        </p:spPr>
      </p:pic>
    </p:spTree>
    <p:extLst>
      <p:ext uri="{BB962C8B-B14F-4D97-AF65-F5344CB8AC3E}">
        <p14:creationId xmlns:p14="http://schemas.microsoft.com/office/powerpoint/2010/main" val="4208161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a:t>
            </a:r>
            <a:r>
              <a:rPr lang="en-US" dirty="0" err="1"/>
              <a:t>MobileNet</a:t>
            </a:r>
            <a:r>
              <a:rPr lang="en-US" dirty="0"/>
              <a:t>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Row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7" cy="3028498"/>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7" cy="302849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7" cy="3028498"/>
          </a:xfrm>
          <a:prstGeom prst="rect">
            <a:avLst/>
          </a:prstGeom>
        </p:spPr>
      </p:pic>
    </p:spTree>
    <p:extLst>
      <p:ext uri="{BB962C8B-B14F-4D97-AF65-F5344CB8AC3E}">
        <p14:creationId xmlns:p14="http://schemas.microsoft.com/office/powerpoint/2010/main" val="40722695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DenseNet-121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Column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8" cy="3028498"/>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8" cy="302849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8" cy="3028498"/>
          </a:xfrm>
          <a:prstGeom prst="rect">
            <a:avLst/>
          </a:prstGeom>
        </p:spPr>
      </p:pic>
    </p:spTree>
    <p:extLst>
      <p:ext uri="{BB962C8B-B14F-4D97-AF65-F5344CB8AC3E}">
        <p14:creationId xmlns:p14="http://schemas.microsoft.com/office/powerpoint/2010/main" val="2501114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86247" y="395078"/>
            <a:ext cx="10807700" cy="1013098"/>
          </a:xfrm>
        </p:spPr>
        <p:txBody>
          <a:bodyPr>
            <a:normAutofit/>
          </a:bodyPr>
          <a:lstStyle/>
          <a:p>
            <a:r>
              <a:rPr lang="en-US" dirty="0"/>
              <a:t>Results: DenseNet-121 PR-Curves</a:t>
            </a:r>
          </a:p>
        </p:txBody>
      </p:sp>
      <p:sp>
        <p:nvSpPr>
          <p:cNvPr id="9" name="Title 1"/>
          <p:cNvSpPr txBox="1">
            <a:spLocks/>
          </p:cNvSpPr>
          <p:nvPr/>
        </p:nvSpPr>
        <p:spPr>
          <a:xfrm>
            <a:off x="2695685" y="5189478"/>
            <a:ext cx="658882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Row Ordering Options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1" y="1784578"/>
            <a:ext cx="4037997" cy="3028498"/>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906" y="1784577"/>
            <a:ext cx="4037997" cy="302849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4001" y="1784578"/>
            <a:ext cx="4037997" cy="3028498"/>
          </a:xfrm>
          <a:prstGeom prst="rect">
            <a:avLst/>
          </a:prstGeom>
        </p:spPr>
      </p:pic>
    </p:spTree>
    <p:extLst>
      <p:ext uri="{BB962C8B-B14F-4D97-AF65-F5344CB8AC3E}">
        <p14:creationId xmlns:p14="http://schemas.microsoft.com/office/powerpoint/2010/main" val="1188102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Results: </a:t>
            </a:r>
          </a:p>
        </p:txBody>
      </p:sp>
      <p:sp>
        <p:nvSpPr>
          <p:cNvPr id="6" name="Title 1"/>
          <p:cNvSpPr txBox="1">
            <a:spLocks/>
          </p:cNvSpPr>
          <p:nvPr/>
        </p:nvSpPr>
        <p:spPr>
          <a:xfrm>
            <a:off x="1131859" y="1105545"/>
            <a:ext cx="10515600" cy="865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Improvement over Mean AUC of Precision Recall Curves</a:t>
            </a:r>
          </a:p>
        </p:txBody>
      </p:sp>
      <p:graphicFrame>
        <p:nvGraphicFramePr>
          <p:cNvPr id="4" name="Object 3"/>
          <p:cNvGraphicFramePr>
            <a:graphicFrameLocks noChangeAspect="1"/>
          </p:cNvGraphicFramePr>
          <p:nvPr>
            <p:extLst>
              <p:ext uri="{D42A27DB-BD31-4B8C-83A1-F6EECF244321}">
                <p14:modId xmlns:p14="http://schemas.microsoft.com/office/powerpoint/2010/main" val="2404474282"/>
              </p:ext>
            </p:extLst>
          </p:nvPr>
        </p:nvGraphicFramePr>
        <p:xfrm>
          <a:off x="1131857" y="4663303"/>
          <a:ext cx="9512775" cy="479355"/>
        </p:xfrm>
        <a:graphic>
          <a:graphicData uri="http://schemas.openxmlformats.org/presentationml/2006/ole">
            <mc:AlternateContent xmlns:mc="http://schemas.openxmlformats.org/markup-compatibility/2006">
              <mc:Choice xmlns:v="urn:schemas-microsoft-com:vml" Requires="v">
                <p:oleObj name="Worksheet" r:id="rId3" imgW="16087585" imgH="809553" progId="Excel.Sheet.12">
                  <p:embed/>
                </p:oleObj>
              </mc:Choice>
              <mc:Fallback>
                <p:oleObj name="Worksheet" r:id="rId3" imgW="16087585" imgH="809553" progId="Excel.Sheet.12">
                  <p:embed/>
                  <p:pic>
                    <p:nvPicPr>
                      <p:cNvPr id="0" name=""/>
                      <p:cNvPicPr/>
                      <p:nvPr/>
                    </p:nvPicPr>
                    <p:blipFill>
                      <a:blip r:embed="rId4"/>
                      <a:stretch>
                        <a:fillRect/>
                      </a:stretch>
                    </p:blipFill>
                    <p:spPr>
                      <a:xfrm>
                        <a:off x="1131857" y="4663303"/>
                        <a:ext cx="9512775" cy="479355"/>
                      </a:xfrm>
                      <a:prstGeom prst="rect">
                        <a:avLst/>
                      </a:prstGeom>
                    </p:spPr>
                  </p:pic>
                </p:oleObj>
              </mc:Fallback>
            </mc:AlternateContent>
          </a:graphicData>
        </a:graphic>
      </p:graphicFrame>
      <p:sp>
        <p:nvSpPr>
          <p:cNvPr id="8" name="Title 1"/>
          <p:cNvSpPr txBox="1">
            <a:spLocks/>
          </p:cNvSpPr>
          <p:nvPr/>
        </p:nvSpPr>
        <p:spPr>
          <a:xfrm>
            <a:off x="1131857" y="5142658"/>
            <a:ext cx="4291479" cy="86563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t>Columns: Shorter Independent Axis</a:t>
            </a:r>
          </a:p>
          <a:p>
            <a:r>
              <a:rPr lang="en-US" sz="2400" dirty="0"/>
              <a:t>Rows: Longer Dependent Axis</a:t>
            </a:r>
          </a:p>
        </p:txBody>
      </p:sp>
      <p:graphicFrame>
        <p:nvGraphicFramePr>
          <p:cNvPr id="7" name="Object 6"/>
          <p:cNvGraphicFramePr>
            <a:graphicFrameLocks noChangeAspect="1"/>
          </p:cNvGraphicFramePr>
          <p:nvPr>
            <p:extLst>
              <p:ext uri="{D42A27DB-BD31-4B8C-83A1-F6EECF244321}">
                <p14:modId xmlns:p14="http://schemas.microsoft.com/office/powerpoint/2010/main" val="1657404150"/>
              </p:ext>
            </p:extLst>
          </p:nvPr>
        </p:nvGraphicFramePr>
        <p:xfrm>
          <a:off x="1131857" y="1971177"/>
          <a:ext cx="9512774" cy="2411637"/>
        </p:xfrm>
        <a:graphic>
          <a:graphicData uri="http://schemas.openxmlformats.org/presentationml/2006/ole">
            <mc:AlternateContent xmlns:mc="http://schemas.openxmlformats.org/markup-compatibility/2006">
              <mc:Choice xmlns:v="urn:schemas-microsoft-com:vml" Requires="v">
                <p:oleObj name="Worksheet" r:id="rId5" imgW="12811243" imgH="3248183" progId="Excel.Sheet.12">
                  <p:embed/>
                </p:oleObj>
              </mc:Choice>
              <mc:Fallback>
                <p:oleObj name="Worksheet" r:id="rId5" imgW="12811243" imgH="3248183" progId="Excel.Sheet.12">
                  <p:embed/>
                  <p:pic>
                    <p:nvPicPr>
                      <p:cNvPr id="0" name=""/>
                      <p:cNvPicPr/>
                      <p:nvPr/>
                    </p:nvPicPr>
                    <p:blipFill>
                      <a:blip r:embed="rId6"/>
                      <a:stretch>
                        <a:fillRect/>
                      </a:stretch>
                    </p:blipFill>
                    <p:spPr>
                      <a:xfrm>
                        <a:off x="1131857" y="1971177"/>
                        <a:ext cx="9512774" cy="2411637"/>
                      </a:xfrm>
                      <a:prstGeom prst="rect">
                        <a:avLst/>
                      </a:prstGeom>
                    </p:spPr>
                  </p:pic>
                </p:oleObj>
              </mc:Fallback>
            </mc:AlternateContent>
          </a:graphicData>
        </a:graphic>
      </p:graphicFrame>
    </p:spTree>
    <p:extLst>
      <p:ext uri="{BB962C8B-B14F-4D97-AF65-F5344CB8AC3E}">
        <p14:creationId xmlns:p14="http://schemas.microsoft.com/office/powerpoint/2010/main" val="1966743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371" y="152291"/>
            <a:ext cx="10515600" cy="994685"/>
          </a:xfrm>
        </p:spPr>
        <p:txBody>
          <a:bodyPr/>
          <a:lstStyle/>
          <a:p>
            <a:r>
              <a:rPr lang="en-US" dirty="0"/>
              <a:t>Non-Natural Datasets – IP Flows</a:t>
            </a:r>
          </a:p>
        </p:txBody>
      </p:sp>
      <p:sp>
        <p:nvSpPr>
          <p:cNvPr id="6" name="Content Placeholder 2"/>
          <p:cNvSpPr>
            <a:spLocks noGrp="1"/>
          </p:cNvSpPr>
          <p:nvPr>
            <p:ph idx="1"/>
          </p:nvPr>
        </p:nvSpPr>
        <p:spPr>
          <a:xfrm>
            <a:off x="1714836" y="1395670"/>
            <a:ext cx="3869779" cy="2115184"/>
          </a:xfrm>
        </p:spPr>
        <p:txBody>
          <a:bodyPr/>
          <a:lstStyle/>
          <a:p>
            <a:r>
              <a:rPr lang="en-US" dirty="0"/>
              <a:t>CIC-IDS-2017</a:t>
            </a:r>
          </a:p>
          <a:p>
            <a:r>
              <a:rPr lang="en-US" dirty="0"/>
              <a:t>Multiple Label Types</a:t>
            </a:r>
          </a:p>
          <a:p>
            <a:r>
              <a:rPr lang="en-US" dirty="0"/>
              <a:t>Grid Shape Different</a:t>
            </a:r>
          </a:p>
          <a:p>
            <a:r>
              <a:rPr lang="en-US" dirty="0"/>
              <a:t>One </a:t>
            </a:r>
            <a:r>
              <a:rPr lang="en-US" i="1" dirty="0"/>
              <a:t>Non-Natural</a:t>
            </a:r>
            <a:r>
              <a:rPr lang="en-US" dirty="0"/>
              <a:t> Axis</a:t>
            </a:r>
          </a:p>
          <a:p>
            <a:endParaRPr lang="en-US" dirty="0"/>
          </a:p>
          <a:p>
            <a:endParaRPr lang="en-US" dirty="0"/>
          </a:p>
        </p:txBody>
      </p:sp>
      <p:pic>
        <p:nvPicPr>
          <p:cNvPr id="4" name="Picture 3"/>
          <p:cNvPicPr>
            <a:picLocks noChangeAspect="1"/>
          </p:cNvPicPr>
          <p:nvPr/>
        </p:nvPicPr>
        <p:blipFill>
          <a:blip r:embed="rId3"/>
          <a:stretch>
            <a:fillRect/>
          </a:stretch>
        </p:blipFill>
        <p:spPr>
          <a:xfrm>
            <a:off x="6087135" y="1146976"/>
            <a:ext cx="4537831" cy="2612572"/>
          </a:xfrm>
          <a:prstGeom prst="rect">
            <a:avLst/>
          </a:prstGeom>
        </p:spPr>
      </p:pic>
      <p:sp>
        <p:nvSpPr>
          <p:cNvPr id="8" name="TextBox 7"/>
          <p:cNvSpPr txBox="1"/>
          <p:nvPr/>
        </p:nvSpPr>
        <p:spPr>
          <a:xfrm>
            <a:off x="759372" y="3510854"/>
            <a:ext cx="10515600" cy="2923877"/>
          </a:xfrm>
          <a:prstGeom prst="rect">
            <a:avLst/>
          </a:prstGeom>
          <a:noFill/>
        </p:spPr>
        <p:txBody>
          <a:bodyPr wrap="square" rtlCol="0">
            <a:spAutoFit/>
          </a:bodyPr>
          <a:lstStyle/>
          <a:p>
            <a:r>
              <a:rPr lang="en-US" sz="4400" dirty="0">
                <a:latin typeface="+mj-lt"/>
              </a:rPr>
              <a:t>Hypothesis:</a:t>
            </a:r>
          </a:p>
          <a:p>
            <a:pPr marL="457200" indent="-457200">
              <a:buFont typeface="Arial" panose="020B0604020202020204" pitchFamily="34" charset="0"/>
              <a:buChar char="•"/>
            </a:pPr>
            <a:r>
              <a:rPr lang="en-US" sz="2800" dirty="0"/>
              <a:t>Performance of CNN will improve when using mathematical relationships as a basis for ordering, but that improvement will match by CNN model, most along the independent axis within the process/metric data set results.</a:t>
            </a:r>
          </a:p>
          <a:p>
            <a:pPr marL="457200" indent="-457200">
              <a:buFont typeface="Arial" panose="020B0604020202020204" pitchFamily="34" charset="0"/>
              <a:buChar char="•"/>
            </a:pPr>
            <a:r>
              <a:rPr lang="en-US" sz="2800" dirty="0" err="1"/>
              <a:t>MobileNet</a:t>
            </a:r>
            <a:r>
              <a:rPr lang="en-US" sz="2800" dirty="0"/>
              <a:t> may behave following the comparative axis length (long). </a:t>
            </a:r>
          </a:p>
        </p:txBody>
      </p:sp>
    </p:spTree>
    <p:extLst>
      <p:ext uri="{BB962C8B-B14F-4D97-AF65-F5344CB8AC3E}">
        <p14:creationId xmlns:p14="http://schemas.microsoft.com/office/powerpoint/2010/main" val="3698787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9197" y="489112"/>
            <a:ext cx="10515600" cy="805912"/>
          </a:xfrm>
        </p:spPr>
        <p:txBody>
          <a:bodyPr>
            <a:normAutofit/>
          </a:bodyPr>
          <a:lstStyle/>
          <a:p>
            <a:r>
              <a:rPr lang="en-US" dirty="0"/>
              <a:t>Anticipated Timeline</a:t>
            </a:r>
          </a:p>
        </p:txBody>
      </p:sp>
      <p:sp>
        <p:nvSpPr>
          <p:cNvPr id="3" name="Content Placeholder 2"/>
          <p:cNvSpPr>
            <a:spLocks noGrp="1"/>
          </p:cNvSpPr>
          <p:nvPr>
            <p:ph idx="1"/>
          </p:nvPr>
        </p:nvSpPr>
        <p:spPr>
          <a:xfrm>
            <a:off x="869197" y="1295024"/>
            <a:ext cx="10515600" cy="2657044"/>
          </a:xfrm>
        </p:spPr>
        <p:txBody>
          <a:bodyPr>
            <a:normAutofit/>
          </a:bodyPr>
          <a:lstStyle/>
          <a:p>
            <a:r>
              <a:rPr lang="en-US" dirty="0"/>
              <a:t>Chap 1-3 (15%) - Research more image pixel relationships (Jan ’02)</a:t>
            </a:r>
          </a:p>
          <a:p>
            <a:r>
              <a:rPr lang="en-US" dirty="0"/>
              <a:t>Chap 4 (40%) - Prepare CIC-IDS data set (Jan ’02)</a:t>
            </a:r>
          </a:p>
          <a:p>
            <a:r>
              <a:rPr lang="en-US" dirty="0"/>
              <a:t>Chap 5 (40%) - Perform CNN processing on CIC-IDS data set (Mar ‘02)</a:t>
            </a:r>
          </a:p>
          <a:p>
            <a:r>
              <a:rPr lang="en-US" dirty="0"/>
              <a:t>Chap 6 (90%) - Prepare and publish results (Apr ‘02)</a:t>
            </a:r>
          </a:p>
          <a:p>
            <a:r>
              <a:rPr lang="en-US" dirty="0"/>
              <a:t>Finish Dissertation (Aug ‘02)</a:t>
            </a:r>
          </a:p>
        </p:txBody>
      </p:sp>
      <p:sp>
        <p:nvSpPr>
          <p:cNvPr id="8" name="TextBox 7"/>
          <p:cNvSpPr txBox="1"/>
          <p:nvPr/>
        </p:nvSpPr>
        <p:spPr>
          <a:xfrm>
            <a:off x="869197" y="4571193"/>
            <a:ext cx="10496550" cy="1200329"/>
          </a:xfrm>
          <a:prstGeom prst="rect">
            <a:avLst/>
          </a:prstGeom>
          <a:noFill/>
        </p:spPr>
        <p:txBody>
          <a:bodyPr wrap="square" rtlCol="0">
            <a:spAutoFit/>
          </a:bodyPr>
          <a:lstStyle/>
          <a:p>
            <a:r>
              <a:rPr lang="en-US" sz="4400" dirty="0">
                <a:latin typeface="+mj-lt"/>
              </a:rPr>
              <a:t>Anticipated Publications:</a:t>
            </a:r>
          </a:p>
          <a:p>
            <a:pPr marL="457200" indent="-457200">
              <a:buFont typeface="Arial" panose="020B0604020202020204" pitchFamily="34" charset="0"/>
              <a:buChar char="•"/>
            </a:pPr>
            <a:r>
              <a:rPr lang="en-US" sz="2800" dirty="0">
                <a:latin typeface="+mj-lt"/>
              </a:rPr>
              <a:t>Journal Publication Adding CIC-IDS Dataset to Publication.</a:t>
            </a:r>
          </a:p>
        </p:txBody>
      </p:sp>
    </p:spTree>
    <p:extLst>
      <p:ext uri="{BB962C8B-B14F-4D97-AF65-F5344CB8AC3E}">
        <p14:creationId xmlns:p14="http://schemas.microsoft.com/office/powerpoint/2010/main" val="2278974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8053" y="2417860"/>
            <a:ext cx="4097694" cy="1325563"/>
          </a:xfrm>
        </p:spPr>
        <p:txBody>
          <a:bodyPr/>
          <a:lstStyle/>
          <a:p>
            <a:r>
              <a:rPr lang="en-US" dirty="0"/>
              <a:t>Additional Slides</a:t>
            </a:r>
          </a:p>
        </p:txBody>
      </p:sp>
    </p:spTree>
    <p:extLst>
      <p:ext uri="{BB962C8B-B14F-4D97-AF65-F5344CB8AC3E}">
        <p14:creationId xmlns:p14="http://schemas.microsoft.com/office/powerpoint/2010/main" val="1526625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5720" y="767886"/>
            <a:ext cx="10515600" cy="1131012"/>
          </a:xfrm>
        </p:spPr>
        <p:txBody>
          <a:bodyPr/>
          <a:lstStyle/>
          <a:p>
            <a:r>
              <a:rPr lang="en-US" dirty="0"/>
              <a:t>Process Metric - Sample Statistics</a:t>
            </a:r>
          </a:p>
        </p:txBody>
      </p:sp>
      <p:sp>
        <p:nvSpPr>
          <p:cNvPr id="4" name="Content Placeholder 2"/>
          <p:cNvSpPr txBox="1">
            <a:spLocks/>
          </p:cNvSpPr>
          <p:nvPr/>
        </p:nvSpPr>
        <p:spPr>
          <a:xfrm>
            <a:off x="945720" y="1898898"/>
            <a:ext cx="10515600" cy="39404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114 different Linux malwares injected.</a:t>
            </a:r>
          </a:p>
          <a:p>
            <a:r>
              <a:rPr lang="en-US" dirty="0"/>
              <a:t>Samples from 912 machines.</a:t>
            </a:r>
          </a:p>
          <a:p>
            <a:r>
              <a:rPr lang="en-US" dirty="0"/>
              <a:t>29 million process samples, 2.9 million from infected machines.</a:t>
            </a:r>
          </a:p>
          <a:p>
            <a:r>
              <a:rPr lang="en-US" dirty="0"/>
              <a:t>323 different process names, 129 are “non-unique” and ordered.</a:t>
            </a:r>
          </a:p>
          <a:p>
            <a:r>
              <a:rPr lang="en-US" dirty="0"/>
              <a:t>34 numerical metrics, ordered; 2 strings hot-coded to 41 unordered.</a:t>
            </a:r>
          </a:p>
          <a:p>
            <a:r>
              <a:rPr lang="en-US" dirty="0"/>
              <a:t>Grid size was 150 process rows by 75 metric columns.</a:t>
            </a:r>
          </a:p>
          <a:p>
            <a:r>
              <a:rPr lang="en-US" dirty="0"/>
              <a:t>31,064 Sample Grids using 252 Ordering Schemes</a:t>
            </a:r>
          </a:p>
        </p:txBody>
      </p:sp>
    </p:spTree>
    <p:extLst>
      <p:ext uri="{BB962C8B-B14F-4D97-AF65-F5344CB8AC3E}">
        <p14:creationId xmlns:p14="http://schemas.microsoft.com/office/powerpoint/2010/main" val="1014450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3245281670"/>
              </p:ext>
            </p:extLst>
          </p:nvPr>
        </p:nvGraphicFramePr>
        <p:xfrm>
          <a:off x="3302001" y="1740039"/>
          <a:ext cx="5632450" cy="4521060"/>
        </p:xfrm>
        <a:graphic>
          <a:graphicData uri="http://schemas.openxmlformats.org/presentationml/2006/ole">
            <mc:AlternateContent xmlns:mc="http://schemas.openxmlformats.org/markup-compatibility/2006">
              <mc:Choice xmlns:v="urn:schemas-microsoft-com:vml" Requires="v">
                <p:oleObj name="Worksheet" r:id="rId2" imgW="9077185" imgH="7286668" progId="Excel.Sheet.12">
                  <p:embed/>
                </p:oleObj>
              </mc:Choice>
              <mc:Fallback>
                <p:oleObj name="Worksheet" r:id="rId2" imgW="9077185" imgH="7286668" progId="Excel.Sheet.12">
                  <p:embed/>
                  <p:pic>
                    <p:nvPicPr>
                      <p:cNvPr id="0" name=""/>
                      <p:cNvPicPr/>
                      <p:nvPr/>
                    </p:nvPicPr>
                    <p:blipFill>
                      <a:blip r:embed="rId3"/>
                      <a:stretch>
                        <a:fillRect/>
                      </a:stretch>
                    </p:blipFill>
                    <p:spPr>
                      <a:xfrm>
                        <a:off x="3302001" y="1740039"/>
                        <a:ext cx="5632450" cy="4521060"/>
                      </a:xfrm>
                      <a:prstGeom prst="rect">
                        <a:avLst/>
                      </a:prstGeom>
                    </p:spPr>
                  </p:pic>
                </p:oleObj>
              </mc:Fallback>
            </mc:AlternateContent>
          </a:graphicData>
        </a:graphic>
      </p:graphicFrame>
      <p:sp>
        <p:nvSpPr>
          <p:cNvPr id="5" name="Title 1"/>
          <p:cNvSpPr>
            <a:spLocks noGrp="1"/>
          </p:cNvSpPr>
          <p:nvPr>
            <p:ph type="title"/>
          </p:nvPr>
        </p:nvSpPr>
        <p:spPr>
          <a:xfrm>
            <a:off x="945720" y="767886"/>
            <a:ext cx="10515600" cy="1131012"/>
          </a:xfrm>
        </p:spPr>
        <p:txBody>
          <a:bodyPr/>
          <a:lstStyle/>
          <a:p>
            <a:r>
              <a:rPr lang="en-US" dirty="0"/>
              <a:t>IP Data- Sample Statistics</a:t>
            </a:r>
          </a:p>
        </p:txBody>
      </p:sp>
    </p:spTree>
    <p:extLst>
      <p:ext uri="{BB962C8B-B14F-4D97-AF65-F5344CB8AC3E}">
        <p14:creationId xmlns:p14="http://schemas.microsoft.com/office/powerpoint/2010/main" val="33435301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35699" y="509071"/>
            <a:ext cx="9375751" cy="4385816"/>
          </a:xfrm>
          <a:prstGeom prst="rect">
            <a:avLst/>
          </a:prstGeom>
        </p:spPr>
        <p:txBody>
          <a:bodyPr wrap="square">
            <a:spAutoFit/>
          </a:bodyPr>
          <a:lstStyle/>
          <a:p>
            <a:r>
              <a:rPr lang="en-US" sz="4000" dirty="0"/>
              <a:t>Training Machine:  </a:t>
            </a:r>
          </a:p>
          <a:p>
            <a:pPr>
              <a:spcAft>
                <a:spcPts val="600"/>
              </a:spcAft>
            </a:pPr>
            <a:endParaRPr lang="en-US" dirty="0"/>
          </a:p>
          <a:p>
            <a:pPr marL="285750" indent="-285750">
              <a:spcAft>
                <a:spcPts val="600"/>
              </a:spcAft>
              <a:buFontTx/>
              <a:buChar char="-"/>
            </a:pPr>
            <a:r>
              <a:rPr lang="en-US" sz="2800" dirty="0"/>
              <a:t>Central Processor Unit: </a:t>
            </a:r>
            <a:r>
              <a:rPr lang="en-US" sz="2800" dirty="0" err="1"/>
              <a:t>IntelCore</a:t>
            </a:r>
            <a:r>
              <a:rPr lang="en-US" sz="2800" dirty="0"/>
              <a:t> i7-9700K CPU @ 3.6 GHz x 8</a:t>
            </a:r>
          </a:p>
          <a:p>
            <a:pPr marL="285750" indent="-285750">
              <a:spcAft>
                <a:spcPts val="600"/>
              </a:spcAft>
              <a:buFontTx/>
              <a:buChar char="-"/>
            </a:pPr>
            <a:r>
              <a:rPr lang="en-US" sz="2800" dirty="0"/>
              <a:t>Memory: 15.5 GB</a:t>
            </a:r>
          </a:p>
          <a:p>
            <a:pPr marL="285750" indent="-285750">
              <a:spcAft>
                <a:spcPts val="600"/>
              </a:spcAft>
              <a:buFontTx/>
              <a:buChar char="-"/>
            </a:pPr>
            <a:r>
              <a:rPr lang="en-US" sz="2800" dirty="0"/>
              <a:t>Graphical Processor Unit: NVIDIA GK210GL (Tesla K80)</a:t>
            </a:r>
          </a:p>
          <a:p>
            <a:pPr marL="285750" indent="-285750">
              <a:spcAft>
                <a:spcPts val="600"/>
              </a:spcAft>
              <a:buFontTx/>
              <a:buChar char="-"/>
            </a:pPr>
            <a:r>
              <a:rPr lang="en-US" sz="2800" dirty="0"/>
              <a:t>OS: 64-bit Ubuntu 20.10 LTS (Gnome 3.38.3)</a:t>
            </a:r>
          </a:p>
          <a:p>
            <a:pPr marL="285750" indent="-285750">
              <a:spcAft>
                <a:spcPts val="600"/>
              </a:spcAft>
              <a:buFontTx/>
              <a:buChar char="-"/>
            </a:pPr>
            <a:r>
              <a:rPr lang="en-US" sz="2800" dirty="0"/>
              <a:t>CUDA: 11.2</a:t>
            </a:r>
          </a:p>
          <a:p>
            <a:pPr marL="285750" indent="-285750">
              <a:spcAft>
                <a:spcPts val="600"/>
              </a:spcAft>
              <a:buFontTx/>
              <a:buChar char="-"/>
            </a:pPr>
            <a:r>
              <a:rPr lang="en-US" sz="2800" dirty="0"/>
              <a:t>Python: 3.6 using </a:t>
            </a:r>
            <a:r>
              <a:rPr lang="en-US" sz="2800" dirty="0" err="1"/>
              <a:t>Tensorflow</a:t>
            </a:r>
            <a:r>
              <a:rPr lang="en-US" sz="2800" dirty="0"/>
              <a:t> and </a:t>
            </a:r>
            <a:r>
              <a:rPr lang="en-US" sz="2800" dirty="0" err="1"/>
              <a:t>Tensorboard</a:t>
            </a:r>
            <a:endParaRPr lang="en-US" sz="2800" dirty="0"/>
          </a:p>
          <a:p>
            <a:pPr marL="285750" indent="-285750">
              <a:buFontTx/>
              <a:buChar char="-"/>
            </a:pPr>
            <a:endParaRPr lang="en-US" dirty="0"/>
          </a:p>
        </p:txBody>
      </p:sp>
    </p:spTree>
    <p:extLst>
      <p:ext uri="{BB962C8B-B14F-4D97-AF65-F5344CB8AC3E}">
        <p14:creationId xmlns:p14="http://schemas.microsoft.com/office/powerpoint/2010/main" val="14311421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Results: </a:t>
            </a:r>
          </a:p>
        </p:txBody>
      </p:sp>
      <p:sp>
        <p:nvSpPr>
          <p:cNvPr id="6" name="Title 1"/>
          <p:cNvSpPr txBox="1">
            <a:spLocks/>
          </p:cNvSpPr>
          <p:nvPr/>
        </p:nvSpPr>
        <p:spPr>
          <a:xfrm>
            <a:off x="1100328" y="1331122"/>
            <a:ext cx="10515600" cy="8656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Mean AUC for Precision Recall Curves</a:t>
            </a:r>
          </a:p>
        </p:txBody>
      </p:sp>
      <p:graphicFrame>
        <p:nvGraphicFramePr>
          <p:cNvPr id="10" name="Table 9"/>
          <p:cNvGraphicFramePr>
            <a:graphicFrameLocks noGrp="1"/>
          </p:cNvGraphicFramePr>
          <p:nvPr>
            <p:extLst>
              <p:ext uri="{D42A27DB-BD31-4B8C-83A1-F6EECF244321}">
                <p14:modId xmlns:p14="http://schemas.microsoft.com/office/powerpoint/2010/main" val="4111210124"/>
              </p:ext>
            </p:extLst>
          </p:nvPr>
        </p:nvGraphicFramePr>
        <p:xfrm>
          <a:off x="838200" y="2186439"/>
          <a:ext cx="6728127" cy="2596947"/>
        </p:xfrm>
        <a:graphic>
          <a:graphicData uri="http://schemas.openxmlformats.org/drawingml/2006/table">
            <a:tbl>
              <a:tblPr/>
              <a:tblGrid>
                <a:gridCol w="1905336">
                  <a:extLst>
                    <a:ext uri="{9D8B030D-6E8A-4147-A177-3AD203B41FA5}">
                      <a16:colId xmlns:a16="http://schemas.microsoft.com/office/drawing/2014/main" val="20000"/>
                    </a:ext>
                  </a:extLst>
                </a:gridCol>
                <a:gridCol w="1035319">
                  <a:extLst>
                    <a:ext uri="{9D8B030D-6E8A-4147-A177-3AD203B41FA5}">
                      <a16:colId xmlns:a16="http://schemas.microsoft.com/office/drawing/2014/main" val="20001"/>
                    </a:ext>
                  </a:extLst>
                </a:gridCol>
                <a:gridCol w="1383327">
                  <a:extLst>
                    <a:ext uri="{9D8B030D-6E8A-4147-A177-3AD203B41FA5}">
                      <a16:colId xmlns:a16="http://schemas.microsoft.com/office/drawing/2014/main" val="20002"/>
                    </a:ext>
                  </a:extLst>
                </a:gridCol>
                <a:gridCol w="1194822">
                  <a:extLst>
                    <a:ext uri="{9D8B030D-6E8A-4147-A177-3AD203B41FA5}">
                      <a16:colId xmlns:a16="http://schemas.microsoft.com/office/drawing/2014/main" val="20003"/>
                    </a:ext>
                  </a:extLst>
                </a:gridCol>
                <a:gridCol w="1209323">
                  <a:extLst>
                    <a:ext uri="{9D8B030D-6E8A-4147-A177-3AD203B41FA5}">
                      <a16:colId xmlns:a16="http://schemas.microsoft.com/office/drawing/2014/main" val="20004"/>
                    </a:ext>
                  </a:extLst>
                </a:gridCol>
              </a:tblGrid>
              <a:tr h="374727">
                <a:tc>
                  <a:txBody>
                    <a:bodyPr/>
                    <a:lstStyle/>
                    <a:p>
                      <a:pPr algn="l" fontAlgn="b"/>
                      <a:r>
                        <a:rPr lang="en-US" sz="2200" b="0" i="0" u="none" strike="noStrike" dirty="0">
                          <a:solidFill>
                            <a:srgbClr val="000000"/>
                          </a:solidFill>
                          <a:effectLst/>
                          <a:latin typeface="Calibri" panose="020F0502020204030204" pitchFamily="34" charset="0"/>
                        </a:rPr>
                        <a:t>CNN </a:t>
                      </a:r>
                    </a:p>
                  </a:txBody>
                  <a:tcPr marL="8715" marR="8715" marT="8715" marB="0" anchor="b">
                    <a:lnL w="190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fontAlgn="b"/>
                      <a:r>
                        <a:rPr lang="en-US" sz="2200" b="0" i="0" u="none" strike="noStrike">
                          <a:solidFill>
                            <a:srgbClr val="000000"/>
                          </a:solidFill>
                          <a:effectLst/>
                          <a:latin typeface="Calibri" panose="020F0502020204030204" pitchFamily="34" charset="0"/>
                        </a:rPr>
                        <a:t>All</a:t>
                      </a:r>
                    </a:p>
                  </a:txBody>
                  <a:tcPr marL="8715" marR="8715" marT="8715" marB="0" anchor="b">
                    <a:lnL w="25400" cap="flat" cmpd="dbl"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fontAlgn="b"/>
                      <a:r>
                        <a:rPr lang="en-US" sz="2200" b="0" i="0" u="none" strike="noStrike" dirty="0">
                          <a:solidFill>
                            <a:srgbClr val="000000"/>
                          </a:solidFill>
                          <a:effectLst/>
                          <a:latin typeface="Calibri" panose="020F0502020204030204" pitchFamily="34" charset="0"/>
                        </a:rPr>
                        <a:t>Correlated</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fontAlgn="b"/>
                      <a:r>
                        <a:rPr lang="en-US" sz="2200" b="0" i="0" u="none" strike="noStrike">
                          <a:solidFill>
                            <a:srgbClr val="000000"/>
                          </a:solidFill>
                          <a:effectLst/>
                          <a:latin typeface="Calibri" panose="020F0502020204030204" pitchFamily="34" charset="0"/>
                        </a:rPr>
                        <a:t>ABS-Corr</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fontAlgn="b"/>
                      <a:r>
                        <a:rPr lang="en-US" sz="2200" b="0" i="0" u="none" strike="noStrike" dirty="0">
                          <a:solidFill>
                            <a:srgbClr val="000000"/>
                          </a:solidFill>
                          <a:effectLst/>
                          <a:latin typeface="Calibri" panose="020F0502020204030204" pitchFamily="34" charset="0"/>
                        </a:rPr>
                        <a:t>Anti-</a:t>
                      </a:r>
                      <a:r>
                        <a:rPr lang="en-US" sz="2200" b="0" i="0" u="none" strike="noStrike" dirty="0" err="1">
                          <a:solidFill>
                            <a:srgbClr val="000000"/>
                          </a:solidFill>
                          <a:effectLst/>
                          <a:latin typeface="Calibri" panose="020F0502020204030204" pitchFamily="34" charset="0"/>
                        </a:rPr>
                        <a:t>Corr</a:t>
                      </a:r>
                      <a:endParaRPr lang="en-US" sz="2200" b="0" i="0" u="none" strike="noStrike" dirty="0">
                        <a:solidFill>
                          <a:srgbClr val="000000"/>
                        </a:solidFill>
                        <a:effectLst/>
                        <a:latin typeface="Calibri" panose="020F0502020204030204" pitchFamily="34" charset="0"/>
                      </a:endParaRPr>
                    </a:p>
                  </a:txBody>
                  <a:tcPr marL="8715" marR="8715" marT="8715"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374727">
                <a:tc>
                  <a:txBody>
                    <a:bodyPr/>
                    <a:lstStyle/>
                    <a:p>
                      <a:pPr algn="l" fontAlgn="b"/>
                      <a:r>
                        <a:rPr lang="en-US" sz="2200" b="0" i="0" u="none" strike="noStrike" dirty="0">
                          <a:solidFill>
                            <a:srgbClr val="000000"/>
                          </a:solidFill>
                          <a:effectLst/>
                          <a:latin typeface="Calibri" panose="020F0502020204030204" pitchFamily="34" charset="0"/>
                        </a:rPr>
                        <a:t>Architecture </a:t>
                      </a:r>
                    </a:p>
                  </a:txBody>
                  <a:tcPr marL="8715" marR="8715" marT="8715" marB="0" anchor="b">
                    <a:lnL w="190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Options</a:t>
                      </a:r>
                    </a:p>
                  </a:txBody>
                  <a:tcPr marL="8715" marR="8715" marT="8715" marB="0" anchor="b">
                    <a:lnL w="25400" cap="flat" cmpd="dbl"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Columns</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Columns</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Columns</a:t>
                      </a:r>
                    </a:p>
                  </a:txBody>
                  <a:tcPr marL="8715" marR="8715" marT="8715"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4727">
                <a:tc>
                  <a:txBody>
                    <a:bodyPr/>
                    <a:lstStyle/>
                    <a:p>
                      <a:pPr algn="l" fontAlgn="b"/>
                      <a:r>
                        <a:rPr lang="en-US" sz="2200" b="0" i="0" u="none" strike="noStrike">
                          <a:solidFill>
                            <a:srgbClr val="000000"/>
                          </a:solidFill>
                          <a:effectLst/>
                          <a:latin typeface="Calibri" panose="020F0502020204030204" pitchFamily="34" charset="0"/>
                        </a:rPr>
                        <a:t>Inception-V3 </a:t>
                      </a:r>
                      <a:endParaRPr lang="en-US" sz="2200" b="0" i="0" u="none" strike="noStrike" dirty="0">
                        <a:solidFill>
                          <a:srgbClr val="000000"/>
                        </a:solidFill>
                        <a:effectLst/>
                        <a:latin typeface="Calibri" panose="020F0502020204030204" pitchFamily="34" charset="0"/>
                      </a:endParaRPr>
                    </a:p>
                  </a:txBody>
                  <a:tcPr marL="8715" marR="8715" marT="8715" marB="0" anchor="b">
                    <a:lnL w="190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94.35%</a:t>
                      </a:r>
                    </a:p>
                  </a:txBody>
                  <a:tcPr marL="8715" marR="8715" marT="8715" marB="0" anchor="b">
                    <a:lnL w="25400" cap="flat" cmpd="dbl"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96.53%</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b"/>
                      <a:r>
                        <a:rPr lang="en-US" sz="2200" b="0" i="0" u="none" strike="noStrike">
                          <a:solidFill>
                            <a:srgbClr val="000000"/>
                          </a:solidFill>
                          <a:effectLst/>
                          <a:latin typeface="Calibri" panose="020F0502020204030204" pitchFamily="34" charset="0"/>
                        </a:rPr>
                        <a:t>94.65%</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95.88%</a:t>
                      </a:r>
                    </a:p>
                  </a:txBody>
                  <a:tcPr marL="8715" marR="8715" marT="8715"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0002"/>
                  </a:ext>
                </a:extLst>
              </a:tr>
              <a:tr h="366013">
                <a:tc>
                  <a:txBody>
                    <a:bodyPr/>
                    <a:lstStyle/>
                    <a:p>
                      <a:pPr algn="l" fontAlgn="b"/>
                      <a:r>
                        <a:rPr lang="en-US" sz="2200" b="0" i="0" u="none" strike="noStrike">
                          <a:solidFill>
                            <a:srgbClr val="000000"/>
                          </a:solidFill>
                          <a:effectLst/>
                          <a:latin typeface="Calibri" panose="020F0502020204030204" pitchFamily="34" charset="0"/>
                        </a:rPr>
                        <a:t>ResNet-18 </a:t>
                      </a:r>
                    </a:p>
                  </a:txBody>
                  <a:tcPr marL="8715" marR="8715" marT="8715" marB="0" anchor="b">
                    <a:lnL w="190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89.85%</a:t>
                      </a:r>
                    </a:p>
                  </a:txBody>
                  <a:tcPr marL="8715" marR="8715" marT="8715" marB="0" anchor="b">
                    <a:lnL w="25400" cap="flat" cmpd="dbl"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dirty="0">
                          <a:solidFill>
                            <a:srgbClr val="000000"/>
                          </a:solidFill>
                          <a:effectLst/>
                          <a:latin typeface="Calibri" panose="020F0502020204030204" pitchFamily="34" charset="0"/>
                        </a:rPr>
                        <a:t>91.24%</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2200" b="0" i="0" u="none" strike="noStrike">
                          <a:solidFill>
                            <a:srgbClr val="000000"/>
                          </a:solidFill>
                          <a:effectLst/>
                          <a:latin typeface="Calibri" panose="020F0502020204030204" pitchFamily="34" charset="0"/>
                        </a:rPr>
                        <a:t>89.23%</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95.13%</a:t>
                      </a:r>
                    </a:p>
                  </a:txBody>
                  <a:tcPr marL="8715" marR="8715" marT="8715"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0003"/>
                  </a:ext>
                </a:extLst>
              </a:tr>
              <a:tr h="366013">
                <a:tc>
                  <a:txBody>
                    <a:bodyPr/>
                    <a:lstStyle/>
                    <a:p>
                      <a:pPr algn="l" fontAlgn="b"/>
                      <a:r>
                        <a:rPr lang="en-US" sz="2200" b="0" i="0" u="none" strike="noStrike">
                          <a:solidFill>
                            <a:srgbClr val="000000"/>
                          </a:solidFill>
                          <a:effectLst/>
                          <a:latin typeface="Calibri" panose="020F0502020204030204" pitchFamily="34" charset="0"/>
                        </a:rPr>
                        <a:t>Xception </a:t>
                      </a:r>
                    </a:p>
                  </a:txBody>
                  <a:tcPr marL="8715" marR="8715" marT="8715" marB="0" anchor="b">
                    <a:lnL w="190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99.70%</a:t>
                      </a:r>
                    </a:p>
                  </a:txBody>
                  <a:tcPr marL="8715" marR="8715" marT="8715" marB="0" anchor="b">
                    <a:lnL w="25400" cap="flat" cmpd="dbl"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99.97%</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r>
                        <a:rPr lang="en-US" sz="2200" b="0" i="0" u="none" strike="noStrike">
                          <a:solidFill>
                            <a:srgbClr val="000000"/>
                          </a:solidFill>
                          <a:effectLst/>
                          <a:latin typeface="Calibri" panose="020F0502020204030204" pitchFamily="34" charset="0"/>
                        </a:rPr>
                        <a:t>99.64%</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99.79%</a:t>
                      </a:r>
                    </a:p>
                  </a:txBody>
                  <a:tcPr marL="8715" marR="8715" marT="8715"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66013">
                <a:tc>
                  <a:txBody>
                    <a:bodyPr/>
                    <a:lstStyle/>
                    <a:p>
                      <a:pPr algn="l" fontAlgn="b"/>
                      <a:r>
                        <a:rPr lang="en-US" sz="2200" b="0" i="0" u="none" strike="noStrike">
                          <a:solidFill>
                            <a:srgbClr val="000000"/>
                          </a:solidFill>
                          <a:effectLst/>
                          <a:latin typeface="Calibri" panose="020F0502020204030204" pitchFamily="34" charset="0"/>
                        </a:rPr>
                        <a:t>MobileNet </a:t>
                      </a:r>
                    </a:p>
                  </a:txBody>
                  <a:tcPr marL="8715" marR="8715" marT="8715" marB="0" anchor="b">
                    <a:lnL w="190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95.87%</a:t>
                      </a:r>
                    </a:p>
                  </a:txBody>
                  <a:tcPr marL="8715" marR="8715" marT="8715" marB="0" anchor="b">
                    <a:lnL w="25400" cap="flat" cmpd="dbl"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dirty="0">
                          <a:solidFill>
                            <a:srgbClr val="000000"/>
                          </a:solidFill>
                          <a:effectLst/>
                          <a:latin typeface="Calibri" panose="020F0502020204030204" pitchFamily="34" charset="0"/>
                        </a:rPr>
                        <a:t>96.55%</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97.01%</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2200" b="0" i="0" u="none" strike="noStrike">
                          <a:solidFill>
                            <a:srgbClr val="000000"/>
                          </a:solidFill>
                          <a:effectLst/>
                          <a:latin typeface="Calibri" panose="020F0502020204030204" pitchFamily="34" charset="0"/>
                        </a:rPr>
                        <a:t>97.55%</a:t>
                      </a:r>
                    </a:p>
                  </a:txBody>
                  <a:tcPr marL="8715" marR="8715" marT="8715"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0005"/>
                  </a:ext>
                </a:extLst>
              </a:tr>
              <a:tr h="374727">
                <a:tc>
                  <a:txBody>
                    <a:bodyPr/>
                    <a:lstStyle/>
                    <a:p>
                      <a:pPr algn="l" fontAlgn="b"/>
                      <a:r>
                        <a:rPr lang="en-US" sz="2200" b="0" i="0" u="none" strike="noStrike" dirty="0">
                          <a:solidFill>
                            <a:srgbClr val="000000"/>
                          </a:solidFill>
                          <a:effectLst/>
                          <a:latin typeface="Calibri" panose="020F0502020204030204" pitchFamily="34" charset="0"/>
                        </a:rPr>
                        <a:t>DenseNet-121 </a:t>
                      </a:r>
                    </a:p>
                  </a:txBody>
                  <a:tcPr marL="8715" marR="8715" marT="8715" marB="0" anchor="b">
                    <a:lnL w="190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99.53%</a:t>
                      </a:r>
                    </a:p>
                  </a:txBody>
                  <a:tcPr marL="8715" marR="8715" marT="8715" marB="0" anchor="b">
                    <a:lnL w="25400" cap="flat" cmpd="dbl"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99.60%</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EFDA"/>
                    </a:solidFill>
                  </a:tcPr>
                </a:tc>
                <a:tc>
                  <a:txBody>
                    <a:bodyPr/>
                    <a:lstStyle/>
                    <a:p>
                      <a:pPr algn="ctr" fontAlgn="b"/>
                      <a:r>
                        <a:rPr lang="en-US" sz="2200" b="0" i="0" u="none" strike="noStrike">
                          <a:solidFill>
                            <a:srgbClr val="000000"/>
                          </a:solidFill>
                          <a:effectLst/>
                          <a:latin typeface="Calibri" panose="020F0502020204030204" pitchFamily="34" charset="0"/>
                        </a:rPr>
                        <a:t>99.52%</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b"/>
                      <a:r>
                        <a:rPr lang="en-US" sz="2200" b="0" i="0" u="none" strike="noStrike" dirty="0">
                          <a:solidFill>
                            <a:srgbClr val="000000"/>
                          </a:solidFill>
                          <a:effectLst/>
                          <a:latin typeface="Calibri" panose="020F0502020204030204" pitchFamily="34" charset="0"/>
                        </a:rPr>
                        <a:t>99.56%</a:t>
                      </a:r>
                    </a:p>
                  </a:txBody>
                  <a:tcPr marL="8715" marR="8715" marT="8715"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13" name="Table 12"/>
          <p:cNvGraphicFramePr>
            <a:graphicFrameLocks noGrp="1"/>
          </p:cNvGraphicFramePr>
          <p:nvPr/>
        </p:nvGraphicFramePr>
        <p:xfrm>
          <a:off x="838199" y="4998648"/>
          <a:ext cx="10515600" cy="560978"/>
        </p:xfrm>
        <a:graphic>
          <a:graphicData uri="http://schemas.openxmlformats.org/drawingml/2006/table">
            <a:tbl>
              <a:tblPr/>
              <a:tblGrid>
                <a:gridCol w="1735371">
                  <a:extLst>
                    <a:ext uri="{9D8B030D-6E8A-4147-A177-3AD203B41FA5}">
                      <a16:colId xmlns:a16="http://schemas.microsoft.com/office/drawing/2014/main" val="20000"/>
                    </a:ext>
                  </a:extLst>
                </a:gridCol>
                <a:gridCol w="2278636">
                  <a:extLst>
                    <a:ext uri="{9D8B030D-6E8A-4147-A177-3AD203B41FA5}">
                      <a16:colId xmlns:a16="http://schemas.microsoft.com/office/drawing/2014/main" val="20001"/>
                    </a:ext>
                  </a:extLst>
                </a:gridCol>
                <a:gridCol w="2190659">
                  <a:extLst>
                    <a:ext uri="{9D8B030D-6E8A-4147-A177-3AD203B41FA5}">
                      <a16:colId xmlns:a16="http://schemas.microsoft.com/office/drawing/2014/main" val="20002"/>
                    </a:ext>
                  </a:extLst>
                </a:gridCol>
                <a:gridCol w="1653991">
                  <a:extLst>
                    <a:ext uri="{9D8B030D-6E8A-4147-A177-3AD203B41FA5}">
                      <a16:colId xmlns:a16="http://schemas.microsoft.com/office/drawing/2014/main" val="20003"/>
                    </a:ext>
                  </a:extLst>
                </a:gridCol>
                <a:gridCol w="1618799">
                  <a:extLst>
                    <a:ext uri="{9D8B030D-6E8A-4147-A177-3AD203B41FA5}">
                      <a16:colId xmlns:a16="http://schemas.microsoft.com/office/drawing/2014/main" val="20004"/>
                    </a:ext>
                  </a:extLst>
                </a:gridCol>
                <a:gridCol w="1038144">
                  <a:extLst>
                    <a:ext uri="{9D8B030D-6E8A-4147-A177-3AD203B41FA5}">
                      <a16:colId xmlns:a16="http://schemas.microsoft.com/office/drawing/2014/main" val="20005"/>
                    </a:ext>
                  </a:extLst>
                </a:gridCol>
              </a:tblGrid>
              <a:tr h="283789">
                <a:tc>
                  <a:txBody>
                    <a:bodyPr/>
                    <a:lstStyle/>
                    <a:p>
                      <a:pPr algn="l" fontAlgn="b"/>
                      <a:r>
                        <a:rPr lang="en-US" sz="1700" b="0" i="0" u="none" strike="noStrike">
                          <a:solidFill>
                            <a:srgbClr val="000000"/>
                          </a:solidFill>
                          <a:effectLst/>
                          <a:latin typeface="Calibri" panose="020F0502020204030204" pitchFamily="34" charset="0"/>
                        </a:rPr>
                        <a:t>Color Code:</a:t>
                      </a:r>
                    </a:p>
                  </a:txBody>
                  <a:tcPr marL="6600" marR="6600" marT="66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800" b="0" i="0" u="none" strike="noStrike">
                        <a:solidFill>
                          <a:srgbClr val="000000"/>
                        </a:solidFill>
                        <a:effectLst/>
                        <a:latin typeface="Calibri" panose="020F0502020204030204" pitchFamily="34" charset="0"/>
                      </a:endParaRPr>
                    </a:p>
                  </a:txBody>
                  <a:tcPr marL="6600" marR="6600" marT="66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800" b="0" i="0" u="none" strike="noStrike">
                        <a:solidFill>
                          <a:srgbClr val="000000"/>
                        </a:solidFill>
                        <a:effectLst/>
                        <a:latin typeface="Calibri" panose="020F0502020204030204" pitchFamily="34" charset="0"/>
                      </a:endParaRPr>
                    </a:p>
                  </a:txBody>
                  <a:tcPr marL="6600" marR="6600" marT="66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800" b="0" i="0" u="none" strike="noStrike">
                        <a:solidFill>
                          <a:srgbClr val="000000"/>
                        </a:solidFill>
                        <a:effectLst/>
                        <a:latin typeface="Calibri" panose="020F0502020204030204" pitchFamily="34" charset="0"/>
                      </a:endParaRPr>
                    </a:p>
                  </a:txBody>
                  <a:tcPr marL="6600" marR="6600" marT="66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800" b="0" i="0" u="none" strike="noStrike">
                        <a:solidFill>
                          <a:srgbClr val="000000"/>
                        </a:solidFill>
                        <a:effectLst/>
                        <a:latin typeface="Calibri" panose="020F0502020204030204" pitchFamily="34" charset="0"/>
                      </a:endParaRPr>
                    </a:p>
                  </a:txBody>
                  <a:tcPr marL="6600" marR="6600" marT="66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800" b="0" i="0" u="none" strike="noStrike">
                        <a:solidFill>
                          <a:srgbClr val="000000"/>
                        </a:solidFill>
                        <a:effectLst/>
                        <a:latin typeface="Calibri" panose="020F0502020204030204" pitchFamily="34" charset="0"/>
                      </a:endParaRPr>
                    </a:p>
                  </a:txBody>
                  <a:tcPr marL="6600" marR="6600" marT="660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7189">
                <a:tc>
                  <a:txBody>
                    <a:bodyPr/>
                    <a:lstStyle/>
                    <a:p>
                      <a:pPr algn="ctr" fontAlgn="ctr"/>
                      <a:r>
                        <a:rPr lang="en-US" sz="1700" b="0" i="0" u="none" strike="noStrike">
                          <a:solidFill>
                            <a:srgbClr val="000000"/>
                          </a:solidFill>
                          <a:effectLst/>
                          <a:latin typeface="Calibri" panose="020F0502020204030204" pitchFamily="34" charset="0"/>
                        </a:rPr>
                        <a:t>AUC ≥ +2% &amp; Best</a:t>
                      </a:r>
                    </a:p>
                  </a:txBody>
                  <a:tcPr marL="6600" marR="6600" marT="66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+2% &gt; AUC  ≥ 0% &amp; Best</a:t>
                      </a:r>
                      <a:endParaRPr lang="en-US" sz="1700" b="0" i="0" u="none" strike="noStrike">
                        <a:solidFill>
                          <a:srgbClr val="000000"/>
                        </a:solidFill>
                        <a:effectLst/>
                        <a:latin typeface="Calibri" panose="020F0502020204030204" pitchFamily="34" charset="0"/>
                      </a:endParaRPr>
                    </a:p>
                  </a:txBody>
                  <a:tcPr marL="6600" marR="6600" marT="66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sz="1700" b="0" i="0" u="none" strike="noStrike">
                          <a:solidFill>
                            <a:srgbClr val="000000"/>
                          </a:solidFill>
                          <a:effectLst/>
                          <a:latin typeface="Calibri" panose="020F0502020204030204" pitchFamily="34" charset="0"/>
                        </a:rPr>
                        <a:t>AUC  ≥ +1% &amp; Not Best</a:t>
                      </a:r>
                    </a:p>
                  </a:txBody>
                  <a:tcPr marL="6600" marR="6600" marT="66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+1% &gt; AUC &gt; -1%</a:t>
                      </a:r>
                      <a:endParaRPr lang="en-US" sz="1700" b="0" i="0" u="none" strike="noStrike">
                        <a:solidFill>
                          <a:srgbClr val="000000"/>
                        </a:solidFill>
                        <a:effectLst/>
                        <a:latin typeface="Calibri" panose="020F0502020204030204" pitchFamily="34" charset="0"/>
                      </a:endParaRPr>
                    </a:p>
                  </a:txBody>
                  <a:tcPr marL="6600" marR="6600" marT="66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-1% ≥ AUC &gt; -3%</a:t>
                      </a:r>
                      <a:endParaRPr lang="en-US" sz="1700" b="0" i="0" u="none" strike="noStrike">
                        <a:solidFill>
                          <a:srgbClr val="000000"/>
                        </a:solidFill>
                        <a:effectLst/>
                        <a:latin typeface="Calibri" panose="020F0502020204030204" pitchFamily="34" charset="0"/>
                      </a:endParaRPr>
                    </a:p>
                  </a:txBody>
                  <a:tcPr marL="6600" marR="6600" marT="66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CC"/>
                    </a:solidFill>
                  </a:tcPr>
                </a:tc>
                <a:tc>
                  <a:txBody>
                    <a:bodyPr/>
                    <a:lstStyle/>
                    <a:p>
                      <a:pPr algn="ctr" fontAlgn="ctr"/>
                      <a:r>
                        <a:rPr lang="en-US" sz="1700" b="0" i="0" u="none" strike="noStrike" dirty="0">
                          <a:solidFill>
                            <a:srgbClr val="000000"/>
                          </a:solidFill>
                          <a:effectLst/>
                          <a:latin typeface="Calibri" panose="020F0502020204030204" pitchFamily="34" charset="0"/>
                          <a:cs typeface="Calibri" panose="020F0502020204030204" pitchFamily="34" charset="0"/>
                        </a:rPr>
                        <a:t>-3% ≥ AUC</a:t>
                      </a:r>
                      <a:endParaRPr lang="en-US" sz="1700" b="0" i="0" u="none" strike="noStrike" dirty="0">
                        <a:solidFill>
                          <a:srgbClr val="000000"/>
                        </a:solidFill>
                        <a:effectLst/>
                        <a:latin typeface="Calibri" panose="020F0502020204030204" pitchFamily="34" charset="0"/>
                      </a:endParaRPr>
                    </a:p>
                  </a:txBody>
                  <a:tcPr marL="6600" marR="6600" marT="66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extLst>
                  <a:ext uri="{0D108BD9-81ED-4DB2-BD59-A6C34878D82A}">
                    <a16:rowId xmlns:a16="http://schemas.microsoft.com/office/drawing/2014/main" val="10001"/>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685548099"/>
              </p:ext>
            </p:extLst>
          </p:nvPr>
        </p:nvGraphicFramePr>
        <p:xfrm>
          <a:off x="7566327" y="2186438"/>
          <a:ext cx="3787472" cy="2596947"/>
        </p:xfrm>
        <a:graphic>
          <a:graphicData uri="http://schemas.openxmlformats.org/drawingml/2006/table">
            <a:tbl>
              <a:tblPr/>
              <a:tblGrid>
                <a:gridCol w="1383327">
                  <a:extLst>
                    <a:ext uri="{9D8B030D-6E8A-4147-A177-3AD203B41FA5}">
                      <a16:colId xmlns:a16="http://schemas.microsoft.com/office/drawing/2014/main" val="20000"/>
                    </a:ext>
                  </a:extLst>
                </a:gridCol>
                <a:gridCol w="1194822">
                  <a:extLst>
                    <a:ext uri="{9D8B030D-6E8A-4147-A177-3AD203B41FA5}">
                      <a16:colId xmlns:a16="http://schemas.microsoft.com/office/drawing/2014/main" val="20001"/>
                    </a:ext>
                  </a:extLst>
                </a:gridCol>
                <a:gridCol w="1209323">
                  <a:extLst>
                    <a:ext uri="{9D8B030D-6E8A-4147-A177-3AD203B41FA5}">
                      <a16:colId xmlns:a16="http://schemas.microsoft.com/office/drawing/2014/main" val="20002"/>
                    </a:ext>
                  </a:extLst>
                </a:gridCol>
              </a:tblGrid>
              <a:tr h="374727">
                <a:tc>
                  <a:txBody>
                    <a:bodyPr/>
                    <a:lstStyle/>
                    <a:p>
                      <a:pPr algn="ctr" fontAlgn="b"/>
                      <a:r>
                        <a:rPr lang="en-US" sz="2200" b="0" i="0" u="none" strike="noStrike" dirty="0">
                          <a:solidFill>
                            <a:srgbClr val="000000"/>
                          </a:solidFill>
                          <a:effectLst/>
                          <a:latin typeface="Calibri" panose="020F0502020204030204" pitchFamily="34" charset="0"/>
                        </a:rPr>
                        <a:t>Correlated</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fontAlgn="b"/>
                      <a:r>
                        <a:rPr lang="en-US" sz="2200" b="0" i="0" u="none" strike="noStrike">
                          <a:solidFill>
                            <a:srgbClr val="000000"/>
                          </a:solidFill>
                          <a:effectLst/>
                          <a:latin typeface="Calibri" panose="020F0502020204030204" pitchFamily="34" charset="0"/>
                        </a:rPr>
                        <a:t>ABS-Corr</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fontAlgn="b"/>
                      <a:r>
                        <a:rPr lang="en-US" sz="2200" b="0" i="0" u="none" strike="noStrike">
                          <a:solidFill>
                            <a:srgbClr val="000000"/>
                          </a:solidFill>
                          <a:effectLst/>
                          <a:latin typeface="Calibri" panose="020F0502020204030204" pitchFamily="34" charset="0"/>
                        </a:rPr>
                        <a:t>Anti-Corr</a:t>
                      </a:r>
                    </a:p>
                  </a:txBody>
                  <a:tcPr marL="8715" marR="8715" marT="8715" marB="0" anchor="b">
                    <a:lnL w="63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374727">
                <a:tc>
                  <a:txBody>
                    <a:bodyPr/>
                    <a:lstStyle/>
                    <a:p>
                      <a:pPr algn="ctr" fontAlgn="b"/>
                      <a:r>
                        <a:rPr lang="en-US" sz="2200" b="0" i="0" u="none" strike="noStrike" dirty="0">
                          <a:solidFill>
                            <a:srgbClr val="000000"/>
                          </a:solidFill>
                          <a:effectLst/>
                          <a:latin typeface="Calibri" panose="020F0502020204030204" pitchFamily="34" charset="0"/>
                        </a:rPr>
                        <a:t>Rows</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tc>
                  <a:txBody>
                    <a:bodyPr/>
                    <a:lstStyle/>
                    <a:p>
                      <a:pPr algn="ctr" fontAlgn="b"/>
                      <a:r>
                        <a:rPr lang="en-US" sz="2200" b="0" i="0" u="none" strike="noStrike" dirty="0">
                          <a:solidFill>
                            <a:srgbClr val="000000"/>
                          </a:solidFill>
                          <a:effectLst/>
                          <a:latin typeface="Calibri" panose="020F0502020204030204" pitchFamily="34" charset="0"/>
                        </a:rPr>
                        <a:t>Rows</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tc>
                  <a:txBody>
                    <a:bodyPr/>
                    <a:lstStyle/>
                    <a:p>
                      <a:pPr algn="ctr" fontAlgn="b"/>
                      <a:r>
                        <a:rPr lang="en-US" sz="2200" b="0" i="0" u="none" strike="noStrike" dirty="0">
                          <a:solidFill>
                            <a:srgbClr val="000000"/>
                          </a:solidFill>
                          <a:effectLst/>
                          <a:latin typeface="Calibri" panose="020F0502020204030204" pitchFamily="34" charset="0"/>
                        </a:rPr>
                        <a:t>Rows</a:t>
                      </a:r>
                    </a:p>
                  </a:txBody>
                  <a:tcPr marL="8715" marR="8715" marT="8715" marB="0" anchor="b">
                    <a:lnL w="63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4727">
                <a:tc>
                  <a:txBody>
                    <a:bodyPr/>
                    <a:lstStyle/>
                    <a:p>
                      <a:pPr algn="ctr" fontAlgn="b"/>
                      <a:r>
                        <a:rPr lang="en-US" sz="2200" b="0" i="0" u="none" strike="noStrike">
                          <a:solidFill>
                            <a:srgbClr val="000000"/>
                          </a:solidFill>
                          <a:effectLst/>
                          <a:latin typeface="Calibri" panose="020F0502020204030204" pitchFamily="34" charset="0"/>
                        </a:rPr>
                        <a:t>96.06%</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en-US" sz="2200" b="0" i="0" u="none" strike="noStrike">
                          <a:solidFill>
                            <a:srgbClr val="000000"/>
                          </a:solidFill>
                          <a:effectLst/>
                          <a:latin typeface="Calibri" panose="020F0502020204030204" pitchFamily="34" charset="0"/>
                        </a:rPr>
                        <a:t>96.60%</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b"/>
                      <a:r>
                        <a:rPr lang="en-US" sz="2200" b="0" i="0" u="none" strike="noStrike" dirty="0">
                          <a:solidFill>
                            <a:srgbClr val="000000"/>
                          </a:solidFill>
                          <a:effectLst/>
                          <a:latin typeface="Calibri" panose="020F0502020204030204" pitchFamily="34" charset="0"/>
                        </a:rPr>
                        <a:t>89.65%</a:t>
                      </a:r>
                    </a:p>
                  </a:txBody>
                  <a:tcPr marL="8715" marR="8715" marT="8715" marB="0" anchor="b">
                    <a:lnL w="63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extLst>
                  <a:ext uri="{0D108BD9-81ED-4DB2-BD59-A6C34878D82A}">
                    <a16:rowId xmlns:a16="http://schemas.microsoft.com/office/drawing/2014/main" val="10002"/>
                  </a:ext>
                </a:extLst>
              </a:tr>
              <a:tr h="366013">
                <a:tc>
                  <a:txBody>
                    <a:bodyPr/>
                    <a:lstStyle/>
                    <a:p>
                      <a:pPr algn="ctr" fontAlgn="b"/>
                      <a:r>
                        <a:rPr lang="en-US" sz="2200" b="0" i="0" u="none" strike="noStrike">
                          <a:solidFill>
                            <a:srgbClr val="000000"/>
                          </a:solidFill>
                          <a:effectLst/>
                          <a:latin typeface="Calibri" panose="020F0502020204030204" pitchFamily="34" charset="0"/>
                        </a:rPr>
                        <a:t>87.02%</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CC"/>
                    </a:solidFill>
                  </a:tcPr>
                </a:tc>
                <a:tc>
                  <a:txBody>
                    <a:bodyPr/>
                    <a:lstStyle/>
                    <a:p>
                      <a:pPr algn="ctr" fontAlgn="b"/>
                      <a:r>
                        <a:rPr lang="en-US" sz="2200" b="0" i="0" u="none" strike="noStrike">
                          <a:solidFill>
                            <a:srgbClr val="000000"/>
                          </a:solidFill>
                          <a:effectLst/>
                          <a:latin typeface="Calibri" panose="020F0502020204030204" pitchFamily="34" charset="0"/>
                        </a:rPr>
                        <a:t>86.56%</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tc>
                  <a:txBody>
                    <a:bodyPr/>
                    <a:lstStyle/>
                    <a:p>
                      <a:pPr algn="ctr" fontAlgn="b"/>
                      <a:r>
                        <a:rPr lang="en-US" sz="2200" b="0" i="0" u="none" strike="noStrike" dirty="0">
                          <a:solidFill>
                            <a:srgbClr val="000000"/>
                          </a:solidFill>
                          <a:effectLst/>
                          <a:latin typeface="Calibri" panose="020F0502020204030204" pitchFamily="34" charset="0"/>
                        </a:rPr>
                        <a:t>94.53%</a:t>
                      </a:r>
                    </a:p>
                  </a:txBody>
                  <a:tcPr marL="8715" marR="8715" marT="8715" marB="0" anchor="b">
                    <a:lnL w="63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0003"/>
                  </a:ext>
                </a:extLst>
              </a:tr>
              <a:tr h="366013">
                <a:tc>
                  <a:txBody>
                    <a:bodyPr/>
                    <a:lstStyle/>
                    <a:p>
                      <a:pPr algn="ctr" fontAlgn="b"/>
                      <a:r>
                        <a:rPr lang="en-US" sz="2200" b="0" i="0" u="none" strike="noStrike">
                          <a:solidFill>
                            <a:srgbClr val="000000"/>
                          </a:solidFill>
                          <a:effectLst/>
                          <a:latin typeface="Calibri" panose="020F0502020204030204" pitchFamily="34" charset="0"/>
                        </a:rPr>
                        <a:t>99.73%</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Calibri" panose="020F0502020204030204" pitchFamily="34" charset="0"/>
                        </a:rPr>
                        <a:t>99.80%</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b"/>
                      <a:r>
                        <a:rPr lang="en-US" sz="2200" b="0" i="0" u="none" strike="noStrike" dirty="0">
                          <a:solidFill>
                            <a:srgbClr val="000000"/>
                          </a:solidFill>
                          <a:effectLst/>
                          <a:latin typeface="Calibri" panose="020F0502020204030204" pitchFamily="34" charset="0"/>
                        </a:rPr>
                        <a:t>99.73%</a:t>
                      </a:r>
                    </a:p>
                  </a:txBody>
                  <a:tcPr marL="8715" marR="8715" marT="8715" marB="0" anchor="b">
                    <a:lnL w="63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66013">
                <a:tc>
                  <a:txBody>
                    <a:bodyPr/>
                    <a:lstStyle/>
                    <a:p>
                      <a:pPr algn="ctr" fontAlgn="b"/>
                      <a:r>
                        <a:rPr lang="en-US" sz="2200" b="0" i="0" u="none" strike="noStrike">
                          <a:solidFill>
                            <a:srgbClr val="000000"/>
                          </a:solidFill>
                          <a:effectLst/>
                          <a:latin typeface="Calibri" panose="020F0502020204030204" pitchFamily="34" charset="0"/>
                        </a:rPr>
                        <a:t>93.76%</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CC"/>
                    </a:solidFill>
                  </a:tcPr>
                </a:tc>
                <a:tc>
                  <a:txBody>
                    <a:bodyPr/>
                    <a:lstStyle/>
                    <a:p>
                      <a:pPr algn="ctr" fontAlgn="b"/>
                      <a:r>
                        <a:rPr lang="en-US" sz="2200" b="0" i="0" u="none" strike="noStrike">
                          <a:solidFill>
                            <a:srgbClr val="000000"/>
                          </a:solidFill>
                          <a:effectLst/>
                          <a:latin typeface="Calibri" panose="020F0502020204030204" pitchFamily="34" charset="0"/>
                        </a:rPr>
                        <a:t>92.29%</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tc>
                  <a:txBody>
                    <a:bodyPr/>
                    <a:lstStyle/>
                    <a:p>
                      <a:pPr algn="ctr" fontAlgn="b"/>
                      <a:r>
                        <a:rPr lang="en-US" sz="2200" b="0" i="0" u="none" strike="noStrike" dirty="0">
                          <a:solidFill>
                            <a:srgbClr val="000000"/>
                          </a:solidFill>
                          <a:effectLst/>
                          <a:latin typeface="Calibri" panose="020F0502020204030204" pitchFamily="34" charset="0"/>
                        </a:rPr>
                        <a:t>91.86%</a:t>
                      </a:r>
                    </a:p>
                  </a:txBody>
                  <a:tcPr marL="8715" marR="8715" marT="8715" marB="0" anchor="b">
                    <a:lnL w="63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99"/>
                    </a:solidFill>
                  </a:tcPr>
                </a:tc>
                <a:extLst>
                  <a:ext uri="{0D108BD9-81ED-4DB2-BD59-A6C34878D82A}">
                    <a16:rowId xmlns:a16="http://schemas.microsoft.com/office/drawing/2014/main" val="10005"/>
                  </a:ext>
                </a:extLst>
              </a:tr>
              <a:tr h="374727">
                <a:tc>
                  <a:txBody>
                    <a:bodyPr/>
                    <a:lstStyle/>
                    <a:p>
                      <a:pPr algn="ctr" fontAlgn="b"/>
                      <a:r>
                        <a:rPr lang="en-US" sz="2200" b="0" i="0" u="none" strike="noStrike">
                          <a:solidFill>
                            <a:srgbClr val="000000"/>
                          </a:solidFill>
                          <a:effectLst/>
                          <a:latin typeface="Calibri" panose="020F0502020204030204" pitchFamily="34" charset="0"/>
                        </a:rPr>
                        <a:t>99.70%</a:t>
                      </a:r>
                    </a:p>
                  </a:txBody>
                  <a:tcPr marL="8715" marR="8715" marT="8715"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EFDA"/>
                    </a:solidFill>
                  </a:tcPr>
                </a:tc>
                <a:tc>
                  <a:txBody>
                    <a:bodyPr/>
                    <a:lstStyle/>
                    <a:p>
                      <a:pPr algn="ctr" fontAlgn="b"/>
                      <a:r>
                        <a:rPr lang="en-US" sz="2200" b="0" i="0" u="none" strike="noStrike">
                          <a:solidFill>
                            <a:srgbClr val="000000"/>
                          </a:solidFill>
                          <a:effectLst/>
                          <a:latin typeface="Calibri" panose="020F0502020204030204" pitchFamily="34" charset="0"/>
                        </a:rPr>
                        <a:t>99.43%</a:t>
                      </a:r>
                    </a:p>
                  </a:txBody>
                  <a:tcPr marL="8715" marR="8715" marT="8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b"/>
                      <a:r>
                        <a:rPr lang="en-US" sz="2200" b="0" i="0" u="none" strike="noStrike" dirty="0">
                          <a:solidFill>
                            <a:srgbClr val="000000"/>
                          </a:solidFill>
                          <a:effectLst/>
                          <a:latin typeface="Calibri" panose="020F0502020204030204" pitchFamily="34" charset="0"/>
                        </a:rPr>
                        <a:t>99.20%</a:t>
                      </a:r>
                    </a:p>
                  </a:txBody>
                  <a:tcPr marL="8715" marR="8715" marT="8715" marB="0" anchor="b">
                    <a:lnL w="6350" cap="flat" cmpd="sng" algn="ctr">
                      <a:solidFill>
                        <a:srgbClr val="000000"/>
                      </a:solidFill>
                      <a:prstDash val="solid"/>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389314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12256</TotalTime>
  <Words>1953</Words>
  <Application>Microsoft Office PowerPoint</Application>
  <PresentationFormat>Widescreen</PresentationFormat>
  <Paragraphs>331</Paragraphs>
  <Slides>40</Slides>
  <Notes>22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6" baseType="lpstr">
      <vt:lpstr>Arial</vt:lpstr>
      <vt:lpstr>Calibri</vt:lpstr>
      <vt:lpstr>Calibri Light</vt:lpstr>
      <vt:lpstr>Times New Roman</vt:lpstr>
      <vt:lpstr>Office Theme</vt:lpstr>
      <vt:lpstr>Worksheet</vt:lpstr>
      <vt:lpstr>PowerPoint Presentation</vt:lpstr>
      <vt:lpstr>Intro and Motivation</vt:lpstr>
      <vt:lpstr>What is an Image?</vt:lpstr>
      <vt:lpstr>What is a Convolution?</vt:lpstr>
      <vt:lpstr>Convolutional Neural Networks</vt:lpstr>
      <vt:lpstr>PowerPoint Presentation</vt:lpstr>
      <vt:lpstr>Non-Natural Datasets – IP Flows</vt:lpstr>
      <vt:lpstr>What Order Is Best?</vt:lpstr>
      <vt:lpstr>Approach</vt:lpstr>
      <vt:lpstr>Current Work - Publications:</vt:lpstr>
      <vt:lpstr>Non-Natural Datasets – Process Metrics</vt:lpstr>
      <vt:lpstr>Metrics Captured per Process</vt:lpstr>
      <vt:lpstr>PowerPoint Presentation</vt:lpstr>
      <vt:lpstr>PowerPoint Presentation</vt:lpstr>
      <vt:lpstr>Stabilize Grid Ordering (Process Rows)</vt:lpstr>
      <vt:lpstr>Ordering By Statistics – Independent Axis</vt:lpstr>
      <vt:lpstr>Ordering By Statistics – Dependent Axis</vt:lpstr>
      <vt:lpstr>Ordering Algorithm:</vt:lpstr>
      <vt:lpstr>Visual Example:</vt:lpstr>
      <vt:lpstr>CNN Models Analyzed:</vt:lpstr>
      <vt:lpstr>Results: Lenet-5 (20 epoch) PR-Curves</vt:lpstr>
      <vt:lpstr>Results: Lenet-5 (20 epoch) PR-Curves</vt:lpstr>
      <vt:lpstr>Results: Inception-V3 PR-Curves</vt:lpstr>
      <vt:lpstr>Results: Inception-V3 PR-Curves</vt:lpstr>
      <vt:lpstr>Results: RESNET-18 PR-Curves</vt:lpstr>
      <vt:lpstr>Results: RESNET-18 PR-Curves</vt:lpstr>
      <vt:lpstr>Results: Xception PR-Curves</vt:lpstr>
      <vt:lpstr>Results: Xception PR-Curves</vt:lpstr>
      <vt:lpstr>Results: MobileNet PR-Curves</vt:lpstr>
      <vt:lpstr>Results: MobileNet PR-Curves</vt:lpstr>
      <vt:lpstr>Results: DenseNet-121 PR-Curves</vt:lpstr>
      <vt:lpstr>Results: DenseNet-121 PR-Curves</vt:lpstr>
      <vt:lpstr>Performance Results: </vt:lpstr>
      <vt:lpstr>Non-Natural Datasets – IP Flows</vt:lpstr>
      <vt:lpstr>Anticipated Timeline</vt:lpstr>
      <vt:lpstr>Additional Slides</vt:lpstr>
      <vt:lpstr>Process Metric - Sample Statistics</vt:lpstr>
      <vt:lpstr>IP Data- Sample Statistics</vt:lpstr>
      <vt:lpstr>PowerPoint Presentation</vt:lpstr>
      <vt:lpstr>Performance Results: </vt:lpstr>
    </vt:vector>
  </TitlesOfParts>
  <Company>The University of Texas at San Antonio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 Krishnan</dc:creator>
  <cp:lastModifiedBy>Klepetko, Randall S</cp:lastModifiedBy>
  <cp:revision>151</cp:revision>
  <cp:lastPrinted>2019-10-02T02:02:21Z</cp:lastPrinted>
  <dcterms:created xsi:type="dcterms:W3CDTF">2019-09-30T17:14:46Z</dcterms:created>
  <dcterms:modified xsi:type="dcterms:W3CDTF">2023-08-04T15:34:58Z</dcterms:modified>
</cp:coreProperties>
</file>